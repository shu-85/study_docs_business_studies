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3" roundtripDataSignature="AMtx7mjReIPJzOvE+aPucMy5ebgGHCE8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0095ba28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60095ba28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0095ba28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60095ba283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0095ba283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60095ba28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0095ba28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60095ba283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https://www.gov.uk/government/publications/consumer-rights-act-2015/consumer-rights-act-2015</a:t>
            </a:r>
            <a:endParaRPr/>
          </a:p>
        </p:txBody>
      </p:sp>
      <p:sp>
        <p:nvSpPr>
          <p:cNvPr id="155" name="Google Shape;155;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https://www.youtube.com/watch?v=eaqQX5BU5L4&amp;t=10s</a:t>
            </a:r>
            <a:endParaRPr/>
          </a:p>
        </p:txBody>
      </p:sp>
      <p:sp>
        <p:nvSpPr>
          <p:cNvPr id="172" name="Google Shape;172;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2d0279d42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c2d0279d42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2d0279d42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c2d0279d42_0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2d0279d42_0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c2d0279d42_0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2d0279d42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c2d0279d42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2d0279d4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2d0279d4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https://www.which.co.uk/consumer-rights/regulation/consumer-protection-act-1987-a5xTL3w6L9OI</a:t>
            </a:r>
            <a:endParaRPr/>
          </a:p>
        </p:txBody>
      </p:sp>
      <p:sp>
        <p:nvSpPr>
          <p:cNvPr id="210" name="Google Shape;210;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2d0279d42_0_3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c2d0279d42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https://www.which.co.uk/consumer-rights/regulation/consumer-protection-act-1987-a5xTL3w6L9OI</a:t>
            </a:r>
            <a:endParaRPr/>
          </a:p>
        </p:txBody>
      </p:sp>
      <p:sp>
        <p:nvSpPr>
          <p:cNvPr id="218" name="Google Shape;218;g3c2d0279d42_0_3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0095ba28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60095ba283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2d0279d42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c2d0279d42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2d0279d42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c2d0279d42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https://www.gov.uk/government/publications/consumer-rights-act-2015/consumer-rights-act-2015</a:t>
            </a:r>
            <a:endParaRPr/>
          </a:p>
        </p:txBody>
      </p:sp>
      <p:sp>
        <p:nvSpPr>
          <p:cNvPr id="246" name="Google Shape;246;g3c2d0279d42_0_1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2d0279d42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c2d0279d42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2d0279d4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c2d0279d42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0095ba28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60095ba283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2d0279d42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c2d0279d42_0_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2d0279d42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c2d0279d42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2d0279d42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2d0279d42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c2d0279d42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3c2d0279d42_0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 name="Shape 8"/>
        <p:cNvGrpSpPr/>
        <p:nvPr/>
      </p:nvGrpSpPr>
      <p:grpSpPr>
        <a:xfrm>
          <a:off x="0" y="0"/>
          <a:ext cx="0" cy="0"/>
          <a:chOff x="0" y="0"/>
          <a:chExt cx="0" cy="0"/>
        </a:xfrm>
      </p:grpSpPr>
      <p:pic>
        <p:nvPicPr>
          <p:cNvPr id="9" name="Google Shape;9;p48"/>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10" name="Google Shape;10;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2"/>
              </a:buClr>
              <a:buSzPts val="3300"/>
              <a:buFont typeface="Avenir"/>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 name="Google Shape;11;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2" name="Shape 12"/>
        <p:cNvGrpSpPr/>
        <p:nvPr/>
      </p:nvGrpSpPr>
      <p:grpSpPr>
        <a:xfrm>
          <a:off x="0" y="0"/>
          <a:ext cx="0" cy="0"/>
          <a:chOff x="0" y="0"/>
          <a:chExt cx="0" cy="0"/>
        </a:xfrm>
      </p:grpSpPr>
      <p:pic>
        <p:nvPicPr>
          <p:cNvPr id="13" name="Google Shape;13;p16"/>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14" name="Google Shape;14;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3300"/>
              <a:buFont typeface="Avenir"/>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pic>
        <p:nvPicPr>
          <p:cNvPr id="17" name="Google Shape;17;p49"/>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18" name="Google Shape;18;p4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4"/>
              </a:buClr>
              <a:buSzPts val="3300"/>
              <a:buFont typeface="Avenir"/>
              <a:buNone/>
              <a:defRPr>
                <a:solidFill>
                  <a:schemeClr val="accent4"/>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4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0" name="Shape 20"/>
        <p:cNvGrpSpPr/>
        <p:nvPr/>
      </p:nvGrpSpPr>
      <p:grpSpPr>
        <a:xfrm>
          <a:off x="0" y="0"/>
          <a:ext cx="0" cy="0"/>
          <a:chOff x="0" y="0"/>
          <a:chExt cx="0" cy="0"/>
        </a:xfrm>
      </p:grpSpPr>
      <p:pic>
        <p:nvPicPr>
          <p:cNvPr id="21" name="Google Shape;21;p17"/>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22" name="Google Shape;22;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2"/>
              </a:buClr>
              <a:buSzPts val="3300"/>
              <a:buFont typeface="Avenir"/>
              <a:buNone/>
              <a:defRPr>
                <a:solidFill>
                  <a:schemeClr val="l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pic>
        <p:nvPicPr>
          <p:cNvPr id="25" name="Google Shape;25;p19"/>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26" name="Google Shape;26;p19"/>
          <p:cNvSpPr txBox="1"/>
          <p:nvPr>
            <p:ph type="ctrTitle"/>
          </p:nvPr>
        </p:nvSpPr>
        <p:spPr>
          <a:xfrm>
            <a:off x="488731" y="841772"/>
            <a:ext cx="75123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100"/>
              <a:buFont typeface="Avenir"/>
              <a:buNone/>
              <a:defRPr b="0" i="0" sz="4100">
                <a:solidFill>
                  <a:schemeClr val="dk1"/>
                </a:solidFill>
                <a:latin typeface="Avenir"/>
                <a:ea typeface="Avenir"/>
                <a:cs typeface="Avenir"/>
                <a:sym typeface="Aveni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19"/>
          <p:cNvSpPr txBox="1"/>
          <p:nvPr>
            <p:ph idx="1" type="subTitle"/>
          </p:nvPr>
        </p:nvSpPr>
        <p:spPr>
          <a:xfrm>
            <a:off x="488731" y="2701528"/>
            <a:ext cx="75123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2"/>
              </a:buClr>
              <a:buSzPts val="1800"/>
              <a:buNone/>
              <a:defRPr b="0" i="0" sz="1800">
                <a:solidFill>
                  <a:schemeClr val="lt2"/>
                </a:solidFill>
                <a:latin typeface="Avenir"/>
                <a:ea typeface="Avenir"/>
                <a:cs typeface="Avenir"/>
                <a:sym typeface="Avenir"/>
              </a:defRPr>
            </a:lvl1pPr>
            <a:lvl2pPr lvl="1" algn="ctr">
              <a:lnSpc>
                <a:spcPct val="90000"/>
              </a:lnSpc>
              <a:spcBef>
                <a:spcPts val="400"/>
              </a:spcBef>
              <a:spcAft>
                <a:spcPts val="0"/>
              </a:spcAft>
              <a:buClr>
                <a:srgbClr val="57595A"/>
              </a:buClr>
              <a:buSzPts val="1500"/>
              <a:buNone/>
              <a:defRPr sz="1500"/>
            </a:lvl2pPr>
            <a:lvl3pPr lvl="2" algn="ctr">
              <a:lnSpc>
                <a:spcPct val="90000"/>
              </a:lnSpc>
              <a:spcBef>
                <a:spcPts val="400"/>
              </a:spcBef>
              <a:spcAft>
                <a:spcPts val="0"/>
              </a:spcAft>
              <a:buClr>
                <a:srgbClr val="57595A"/>
              </a:buClr>
              <a:buSzPts val="1400"/>
              <a:buNone/>
              <a:defRPr sz="1400"/>
            </a:lvl3pPr>
            <a:lvl4pPr lvl="3" algn="ctr">
              <a:lnSpc>
                <a:spcPct val="90000"/>
              </a:lnSpc>
              <a:spcBef>
                <a:spcPts val="400"/>
              </a:spcBef>
              <a:spcAft>
                <a:spcPts val="0"/>
              </a:spcAft>
              <a:buClr>
                <a:srgbClr val="57595A"/>
              </a:buClr>
              <a:buSzPts val="1200"/>
              <a:buNone/>
              <a:defRPr sz="1200"/>
            </a:lvl4pPr>
            <a:lvl5pPr lvl="4" algn="ctr">
              <a:lnSpc>
                <a:spcPct val="90000"/>
              </a:lnSpc>
              <a:spcBef>
                <a:spcPts val="400"/>
              </a:spcBef>
              <a:spcAft>
                <a:spcPts val="0"/>
              </a:spcAft>
              <a:buClr>
                <a:srgbClr val="57595A"/>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 name="Shape 28"/>
        <p:cNvGrpSpPr/>
        <p:nvPr/>
      </p:nvGrpSpPr>
      <p:grpSpPr>
        <a:xfrm>
          <a:off x="0" y="0"/>
          <a:ext cx="0" cy="0"/>
          <a:chOff x="0" y="0"/>
          <a:chExt cx="0" cy="0"/>
        </a:xfrm>
      </p:grpSpPr>
      <p:pic>
        <p:nvPicPr>
          <p:cNvPr id="29" name="Google Shape;29;p20"/>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30" name="Google Shape;30;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1"/>
              </a:buClr>
              <a:buSzPts val="3300"/>
              <a:buFont typeface="Avenir"/>
              <a:buNone/>
              <a:defRPr>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2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2" name="Shape 32"/>
        <p:cNvGrpSpPr/>
        <p:nvPr/>
      </p:nvGrpSpPr>
      <p:grpSpPr>
        <a:xfrm>
          <a:off x="0" y="0"/>
          <a:ext cx="0" cy="0"/>
          <a:chOff x="0" y="0"/>
          <a:chExt cx="0" cy="0"/>
        </a:xfrm>
      </p:grpSpPr>
      <p:sp>
        <p:nvSpPr>
          <p:cNvPr id="33" name="Google Shape;33;p22"/>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accent3"/>
              </a:buClr>
              <a:buSzPts val="2400"/>
              <a:buFont typeface="Avenir"/>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22"/>
          <p:cNvSpPr/>
          <p:nvPr>
            <p:ph idx="2" type="pic"/>
          </p:nvPr>
        </p:nvSpPr>
        <p:spPr>
          <a:xfrm>
            <a:off x="3887391" y="740569"/>
            <a:ext cx="4629000" cy="3655200"/>
          </a:xfrm>
          <a:prstGeom prst="rect">
            <a:avLst/>
          </a:prstGeom>
          <a:noFill/>
          <a:ln>
            <a:noFill/>
          </a:ln>
        </p:spPr>
      </p:sp>
      <p:sp>
        <p:nvSpPr>
          <p:cNvPr id="35" name="Google Shape;35;p22"/>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57595A"/>
              </a:buClr>
              <a:buSzPts val="1200"/>
              <a:buNone/>
              <a:defRPr sz="1200"/>
            </a:lvl1pPr>
            <a:lvl2pPr indent="-228600" lvl="1" marL="914400" algn="l">
              <a:lnSpc>
                <a:spcPct val="90000"/>
              </a:lnSpc>
              <a:spcBef>
                <a:spcPts val="400"/>
              </a:spcBef>
              <a:spcAft>
                <a:spcPts val="0"/>
              </a:spcAft>
              <a:buClr>
                <a:srgbClr val="57595A"/>
              </a:buClr>
              <a:buSzPts val="1100"/>
              <a:buNone/>
              <a:defRPr sz="1100"/>
            </a:lvl2pPr>
            <a:lvl3pPr indent="-228600" lvl="2" marL="1371600" algn="l">
              <a:lnSpc>
                <a:spcPct val="90000"/>
              </a:lnSpc>
              <a:spcBef>
                <a:spcPts val="400"/>
              </a:spcBef>
              <a:spcAft>
                <a:spcPts val="0"/>
              </a:spcAft>
              <a:buClr>
                <a:srgbClr val="57595A"/>
              </a:buClr>
              <a:buSzPts val="900"/>
              <a:buNone/>
              <a:defRPr sz="900"/>
            </a:lvl3pPr>
            <a:lvl4pPr indent="-228600" lvl="3" marL="1828800" algn="l">
              <a:lnSpc>
                <a:spcPct val="90000"/>
              </a:lnSpc>
              <a:spcBef>
                <a:spcPts val="400"/>
              </a:spcBef>
              <a:spcAft>
                <a:spcPts val="0"/>
              </a:spcAft>
              <a:buClr>
                <a:srgbClr val="57595A"/>
              </a:buClr>
              <a:buSzPts val="800"/>
              <a:buNone/>
              <a:defRPr sz="800"/>
            </a:lvl4pPr>
            <a:lvl5pPr indent="-228600" lvl="4" marL="2286000" algn="l">
              <a:lnSpc>
                <a:spcPct val="90000"/>
              </a:lnSpc>
              <a:spcBef>
                <a:spcPts val="400"/>
              </a:spcBef>
              <a:spcAft>
                <a:spcPts val="0"/>
              </a:spcAft>
              <a:buClr>
                <a:srgbClr val="57595A"/>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pic>
        <p:nvPicPr>
          <p:cNvPr id="36" name="Google Shape;36;p22"/>
          <p:cNvPicPr preferRelativeResize="0"/>
          <p:nvPr/>
        </p:nvPicPr>
        <p:blipFill rotWithShape="1">
          <a:blip r:embed="rId2">
            <a:alphaModFix/>
          </a:blip>
          <a:srcRect b="0" l="0" r="0" t="0"/>
          <a:stretch/>
        </p:blipFill>
        <p:spPr>
          <a:xfrm>
            <a:off x="314325" y="4243388"/>
            <a:ext cx="1408438" cy="6191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pic>
        <p:nvPicPr>
          <p:cNvPr id="38" name="Google Shape;38;p23"/>
          <p:cNvPicPr preferRelativeResize="0"/>
          <p:nvPr/>
        </p:nvPicPr>
        <p:blipFill rotWithShape="1">
          <a:blip r:embed="rId2">
            <a:alphaModFix/>
          </a:blip>
          <a:srcRect b="0" l="0" r="0" t="0"/>
          <a:stretch/>
        </p:blipFill>
        <p:spPr>
          <a:xfrm>
            <a:off x="0" y="0"/>
            <a:ext cx="9144003" cy="5143500"/>
          </a:xfrm>
          <a:prstGeom prst="rect">
            <a:avLst/>
          </a:prstGeom>
          <a:noFill/>
          <a:ln>
            <a:noFill/>
          </a:ln>
        </p:spPr>
      </p:pic>
      <p:sp>
        <p:nvSpPr>
          <p:cNvPr id="39" name="Google Shape;39;p23"/>
          <p:cNvSpPr txBox="1"/>
          <p:nvPr>
            <p:ph type="title"/>
          </p:nvPr>
        </p:nvSpPr>
        <p:spPr>
          <a:xfrm>
            <a:off x="396478" y="1282304"/>
            <a:ext cx="8114100" cy="17502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2"/>
              </a:buClr>
              <a:buSzPts val="4500"/>
              <a:buFont typeface="Avenir"/>
              <a:buNone/>
              <a:defRPr sz="4500">
                <a:solidFill>
                  <a:schemeClr val="l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23"/>
          <p:cNvSpPr txBox="1"/>
          <p:nvPr>
            <p:ph idx="1" type="body"/>
          </p:nvPr>
        </p:nvSpPr>
        <p:spPr>
          <a:xfrm>
            <a:off x="396478" y="3128963"/>
            <a:ext cx="8114100" cy="14382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8C9C9"/>
              </a:buClr>
              <a:buSzPts val="1800"/>
              <a:buNone/>
              <a:defRPr sz="1800">
                <a:solidFill>
                  <a:srgbClr val="C8C9C9"/>
                </a:solidFill>
              </a:defRPr>
            </a:lvl1pPr>
            <a:lvl2pPr indent="-228600" lvl="1" marL="914400" algn="l">
              <a:lnSpc>
                <a:spcPct val="90000"/>
              </a:lnSpc>
              <a:spcBef>
                <a:spcPts val="400"/>
              </a:spcBef>
              <a:spcAft>
                <a:spcPts val="0"/>
              </a:spcAft>
              <a:buClr>
                <a:srgbClr val="C8C9C9"/>
              </a:buClr>
              <a:buSzPts val="1500"/>
              <a:buNone/>
              <a:defRPr sz="1500">
                <a:solidFill>
                  <a:srgbClr val="C8C9C9"/>
                </a:solidFill>
              </a:defRPr>
            </a:lvl2pPr>
            <a:lvl3pPr indent="-228600" lvl="2" marL="1371600" algn="l">
              <a:lnSpc>
                <a:spcPct val="90000"/>
              </a:lnSpc>
              <a:spcBef>
                <a:spcPts val="400"/>
              </a:spcBef>
              <a:spcAft>
                <a:spcPts val="0"/>
              </a:spcAft>
              <a:buClr>
                <a:srgbClr val="C8C9C9"/>
              </a:buClr>
              <a:buSzPts val="1400"/>
              <a:buNone/>
              <a:defRPr sz="1400">
                <a:solidFill>
                  <a:srgbClr val="C8C9C9"/>
                </a:solidFill>
              </a:defRPr>
            </a:lvl3pPr>
            <a:lvl4pPr indent="-228600" lvl="3" marL="1828800" algn="l">
              <a:lnSpc>
                <a:spcPct val="90000"/>
              </a:lnSpc>
              <a:spcBef>
                <a:spcPts val="400"/>
              </a:spcBef>
              <a:spcAft>
                <a:spcPts val="0"/>
              </a:spcAft>
              <a:buClr>
                <a:srgbClr val="C8C9C9"/>
              </a:buClr>
              <a:buSzPts val="1200"/>
              <a:buNone/>
              <a:defRPr sz="1200">
                <a:solidFill>
                  <a:srgbClr val="C8C9C9"/>
                </a:solidFill>
              </a:defRPr>
            </a:lvl4pPr>
            <a:lvl5pPr indent="-228600" lvl="4" marL="2286000" algn="l">
              <a:lnSpc>
                <a:spcPct val="90000"/>
              </a:lnSpc>
              <a:spcBef>
                <a:spcPts val="400"/>
              </a:spcBef>
              <a:spcAft>
                <a:spcPts val="0"/>
              </a:spcAft>
              <a:buClr>
                <a:srgbClr val="C8C9C9"/>
              </a:buClr>
              <a:buSzPts val="1200"/>
              <a:buNone/>
              <a:defRPr sz="1200">
                <a:solidFill>
                  <a:srgbClr val="C8C9C9"/>
                </a:solidFill>
              </a:defRPr>
            </a:lvl5pPr>
            <a:lvl6pPr indent="-228600" lvl="5" marL="2743200" algn="l">
              <a:lnSpc>
                <a:spcPct val="90000"/>
              </a:lnSpc>
              <a:spcBef>
                <a:spcPts val="400"/>
              </a:spcBef>
              <a:spcAft>
                <a:spcPts val="0"/>
              </a:spcAft>
              <a:buClr>
                <a:srgbClr val="C8C9C9"/>
              </a:buClr>
              <a:buSzPts val="1200"/>
              <a:buNone/>
              <a:defRPr sz="1200">
                <a:solidFill>
                  <a:srgbClr val="C8C9C9"/>
                </a:solidFill>
              </a:defRPr>
            </a:lvl6pPr>
            <a:lvl7pPr indent="-228600" lvl="6" marL="3200400" algn="l">
              <a:lnSpc>
                <a:spcPct val="90000"/>
              </a:lnSpc>
              <a:spcBef>
                <a:spcPts val="400"/>
              </a:spcBef>
              <a:spcAft>
                <a:spcPts val="0"/>
              </a:spcAft>
              <a:buClr>
                <a:srgbClr val="C8C9C9"/>
              </a:buClr>
              <a:buSzPts val="1200"/>
              <a:buNone/>
              <a:defRPr sz="1200">
                <a:solidFill>
                  <a:srgbClr val="C8C9C9"/>
                </a:solidFill>
              </a:defRPr>
            </a:lvl7pPr>
            <a:lvl8pPr indent="-228600" lvl="7" marL="3657600" algn="l">
              <a:lnSpc>
                <a:spcPct val="90000"/>
              </a:lnSpc>
              <a:spcBef>
                <a:spcPts val="400"/>
              </a:spcBef>
              <a:spcAft>
                <a:spcPts val="0"/>
              </a:spcAft>
              <a:buClr>
                <a:srgbClr val="C8C9C9"/>
              </a:buClr>
              <a:buSzPts val="1200"/>
              <a:buNone/>
              <a:defRPr sz="1200">
                <a:solidFill>
                  <a:srgbClr val="C8C9C9"/>
                </a:solidFill>
              </a:defRPr>
            </a:lvl8pPr>
            <a:lvl9pPr indent="-228600" lvl="8" marL="4114800" algn="l">
              <a:lnSpc>
                <a:spcPct val="90000"/>
              </a:lnSpc>
              <a:spcBef>
                <a:spcPts val="400"/>
              </a:spcBef>
              <a:spcAft>
                <a:spcPts val="0"/>
              </a:spcAft>
              <a:buClr>
                <a:srgbClr val="C8C9C9"/>
              </a:buClr>
              <a:buSzPts val="1200"/>
              <a:buNone/>
              <a:defRPr sz="1200">
                <a:solidFill>
                  <a:srgbClr val="C8C9C9"/>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1" name="Shape 41"/>
        <p:cNvGrpSpPr/>
        <p:nvPr/>
      </p:nvGrpSpPr>
      <p:grpSpPr>
        <a:xfrm>
          <a:off x="0" y="0"/>
          <a:ext cx="0" cy="0"/>
          <a:chOff x="0" y="0"/>
          <a:chExt cx="0" cy="0"/>
        </a:xfrm>
      </p:grpSpPr>
      <p:sp>
        <p:nvSpPr>
          <p:cNvPr id="42" name="Google Shape;42;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44" name="Google Shape;44;p24"/>
          <p:cNvPicPr preferRelativeResize="0"/>
          <p:nvPr/>
        </p:nvPicPr>
        <p:blipFill rotWithShape="1">
          <a:blip r:embed="rId2">
            <a:alphaModFix/>
          </a:blip>
          <a:srcRect b="0" l="0" r="0" t="0"/>
          <a:stretch/>
        </p:blipFill>
        <p:spPr>
          <a:xfrm>
            <a:off x="314325" y="4243388"/>
            <a:ext cx="1408438" cy="6191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5" name="Shape 45"/>
        <p:cNvGrpSpPr/>
        <p:nvPr/>
      </p:nvGrpSpPr>
      <p:grpSpPr>
        <a:xfrm>
          <a:off x="0" y="0"/>
          <a:ext cx="0" cy="0"/>
          <a:chOff x="0" y="0"/>
          <a:chExt cx="0" cy="0"/>
        </a:xfrm>
      </p:grpSpPr>
      <p:sp>
        <p:nvSpPr>
          <p:cNvPr id="46" name="Google Shape;46;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25"/>
          <p:cNvSpPr txBox="1"/>
          <p:nvPr>
            <p:ph idx="10" type="dt"/>
          </p:nvPr>
        </p:nvSpPr>
        <p:spPr>
          <a:xfrm>
            <a:off x="628650" y="4767263"/>
            <a:ext cx="2057400" cy="273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49" name="Google Shape;49;p25"/>
          <p:cNvSpPr txBox="1"/>
          <p:nvPr>
            <p:ph idx="11" type="ftr"/>
          </p:nvPr>
        </p:nvSpPr>
        <p:spPr>
          <a:xfrm>
            <a:off x="3028950" y="4767263"/>
            <a:ext cx="3086100" cy="273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0" name="Google Shape;50;p25"/>
          <p:cNvSpPr txBox="1"/>
          <p:nvPr>
            <p:ph idx="12" type="sldNum"/>
          </p:nvPr>
        </p:nvSpPr>
        <p:spPr>
          <a:xfrm>
            <a:off x="6457950" y="4767263"/>
            <a:ext cx="2057400" cy="273900"/>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4" name="Shape 54"/>
        <p:cNvGrpSpPr/>
        <p:nvPr/>
      </p:nvGrpSpPr>
      <p:grpSpPr>
        <a:xfrm>
          <a:off x="0" y="0"/>
          <a:ext cx="0" cy="0"/>
          <a:chOff x="0" y="0"/>
          <a:chExt cx="0" cy="0"/>
        </a:xfrm>
      </p:grpSpPr>
      <p:pic>
        <p:nvPicPr>
          <p:cNvPr id="55" name="Google Shape;55;g3c2d0279d42_0_25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6" name="Google Shape;56;g3c2d0279d42_0_25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3300"/>
              <a:buFont typeface="Avenir"/>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g3c2d0279d42_0_25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8" name="Shape 58"/>
        <p:cNvGrpSpPr/>
        <p:nvPr/>
      </p:nvGrpSpPr>
      <p:grpSpPr>
        <a:xfrm>
          <a:off x="0" y="0"/>
          <a:ext cx="0" cy="0"/>
          <a:chOff x="0" y="0"/>
          <a:chExt cx="0" cy="0"/>
        </a:xfrm>
      </p:grpSpPr>
      <p:pic>
        <p:nvPicPr>
          <p:cNvPr id="59" name="Google Shape;59;g3c2d0279d42_0_25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0" name="Google Shape;60;g3c2d0279d42_0_25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4"/>
              </a:buClr>
              <a:buSzPts val="3300"/>
              <a:buFont typeface="Avenir"/>
              <a:buNone/>
              <a:defRPr>
                <a:solidFill>
                  <a:schemeClr val="accent4"/>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g3c2d0279d42_0_25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pic>
        <p:nvPicPr>
          <p:cNvPr id="63" name="Google Shape;63;g3c2d0279d42_0_26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4" name="Google Shape;64;g3c2d0279d42_0_26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2"/>
              </a:buClr>
              <a:buSzPts val="3300"/>
              <a:buFont typeface="Avenir"/>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g3c2d0279d42_0_26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6" name="Shape 66"/>
        <p:cNvGrpSpPr/>
        <p:nvPr/>
      </p:nvGrpSpPr>
      <p:grpSpPr>
        <a:xfrm>
          <a:off x="0" y="0"/>
          <a:ext cx="0" cy="0"/>
          <a:chOff x="0" y="0"/>
          <a:chExt cx="0" cy="0"/>
        </a:xfrm>
      </p:grpSpPr>
      <p:pic>
        <p:nvPicPr>
          <p:cNvPr id="67" name="Google Shape;67;g3c2d0279d42_0_26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8" name="Google Shape;68;g3c2d0279d42_0_26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2"/>
              </a:buClr>
              <a:buSzPts val="3300"/>
              <a:buFont typeface="Avenir"/>
              <a:buNone/>
              <a:defRPr>
                <a:solidFill>
                  <a:schemeClr val="l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g3c2d0279d42_0_26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pic>
        <p:nvPicPr>
          <p:cNvPr id="71" name="Google Shape;71;g3c2d0279d42_0_27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2" name="Google Shape;72;g3c2d0279d42_0_271"/>
          <p:cNvSpPr txBox="1"/>
          <p:nvPr>
            <p:ph type="ctrTitle"/>
          </p:nvPr>
        </p:nvSpPr>
        <p:spPr>
          <a:xfrm>
            <a:off x="488731" y="841772"/>
            <a:ext cx="75123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100"/>
              <a:buFont typeface="Avenir"/>
              <a:buNone/>
              <a:defRPr b="0" i="0" sz="4100">
                <a:solidFill>
                  <a:schemeClr val="dk1"/>
                </a:solidFill>
                <a:latin typeface="Avenir"/>
                <a:ea typeface="Avenir"/>
                <a:cs typeface="Avenir"/>
                <a:sym typeface="Aveni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g3c2d0279d42_0_271"/>
          <p:cNvSpPr txBox="1"/>
          <p:nvPr>
            <p:ph idx="1" type="subTitle"/>
          </p:nvPr>
        </p:nvSpPr>
        <p:spPr>
          <a:xfrm>
            <a:off x="488731" y="2701528"/>
            <a:ext cx="75123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2"/>
              </a:buClr>
              <a:buSzPts val="1800"/>
              <a:buNone/>
              <a:defRPr b="0" i="0" sz="1800">
                <a:solidFill>
                  <a:schemeClr val="lt2"/>
                </a:solidFill>
                <a:latin typeface="Avenir"/>
                <a:ea typeface="Avenir"/>
                <a:cs typeface="Avenir"/>
                <a:sym typeface="Avenir"/>
              </a:defRPr>
            </a:lvl1pPr>
            <a:lvl2pPr lvl="1" algn="ctr">
              <a:lnSpc>
                <a:spcPct val="90000"/>
              </a:lnSpc>
              <a:spcBef>
                <a:spcPts val="400"/>
              </a:spcBef>
              <a:spcAft>
                <a:spcPts val="0"/>
              </a:spcAft>
              <a:buClr>
                <a:srgbClr val="57595A"/>
              </a:buClr>
              <a:buSzPts val="1500"/>
              <a:buNone/>
              <a:defRPr sz="1500"/>
            </a:lvl2pPr>
            <a:lvl3pPr lvl="2" algn="ctr">
              <a:lnSpc>
                <a:spcPct val="90000"/>
              </a:lnSpc>
              <a:spcBef>
                <a:spcPts val="400"/>
              </a:spcBef>
              <a:spcAft>
                <a:spcPts val="0"/>
              </a:spcAft>
              <a:buClr>
                <a:srgbClr val="57595A"/>
              </a:buClr>
              <a:buSzPts val="1400"/>
              <a:buNone/>
              <a:defRPr sz="1400"/>
            </a:lvl3pPr>
            <a:lvl4pPr lvl="3" algn="ctr">
              <a:lnSpc>
                <a:spcPct val="90000"/>
              </a:lnSpc>
              <a:spcBef>
                <a:spcPts val="400"/>
              </a:spcBef>
              <a:spcAft>
                <a:spcPts val="0"/>
              </a:spcAft>
              <a:buClr>
                <a:srgbClr val="57595A"/>
              </a:buClr>
              <a:buSzPts val="1200"/>
              <a:buNone/>
              <a:defRPr sz="1200"/>
            </a:lvl4pPr>
            <a:lvl5pPr lvl="4" algn="ctr">
              <a:lnSpc>
                <a:spcPct val="90000"/>
              </a:lnSpc>
              <a:spcBef>
                <a:spcPts val="400"/>
              </a:spcBef>
              <a:spcAft>
                <a:spcPts val="0"/>
              </a:spcAft>
              <a:buClr>
                <a:srgbClr val="57595A"/>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4" name="Shape 74"/>
        <p:cNvGrpSpPr/>
        <p:nvPr/>
      </p:nvGrpSpPr>
      <p:grpSpPr>
        <a:xfrm>
          <a:off x="0" y="0"/>
          <a:ext cx="0" cy="0"/>
          <a:chOff x="0" y="0"/>
          <a:chExt cx="0" cy="0"/>
        </a:xfrm>
      </p:grpSpPr>
      <p:pic>
        <p:nvPicPr>
          <p:cNvPr id="75" name="Google Shape;75;g3c2d0279d42_0_27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6" name="Google Shape;76;g3c2d0279d42_0_27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1"/>
              </a:buClr>
              <a:buSzPts val="3300"/>
              <a:buFont typeface="Avenir"/>
              <a:buNone/>
              <a:defRPr>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g3c2d0279d42_0_27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g3c2d0279d42_0_279"/>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accent3"/>
              </a:buClr>
              <a:buSzPts val="2400"/>
              <a:buFont typeface="Avenir"/>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g3c2d0279d42_0_279"/>
          <p:cNvSpPr/>
          <p:nvPr>
            <p:ph idx="2" type="pic"/>
          </p:nvPr>
        </p:nvSpPr>
        <p:spPr>
          <a:xfrm>
            <a:off x="3887391" y="740569"/>
            <a:ext cx="4629000" cy="3655200"/>
          </a:xfrm>
          <a:prstGeom prst="rect">
            <a:avLst/>
          </a:prstGeom>
          <a:noFill/>
          <a:ln>
            <a:noFill/>
          </a:ln>
        </p:spPr>
      </p:sp>
      <p:sp>
        <p:nvSpPr>
          <p:cNvPr id="81" name="Google Shape;81;g3c2d0279d42_0_279"/>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57595A"/>
              </a:buClr>
              <a:buSzPts val="1200"/>
              <a:buNone/>
              <a:defRPr sz="1200"/>
            </a:lvl1pPr>
            <a:lvl2pPr indent="-228600" lvl="1" marL="914400" algn="l">
              <a:lnSpc>
                <a:spcPct val="90000"/>
              </a:lnSpc>
              <a:spcBef>
                <a:spcPts val="400"/>
              </a:spcBef>
              <a:spcAft>
                <a:spcPts val="0"/>
              </a:spcAft>
              <a:buClr>
                <a:srgbClr val="57595A"/>
              </a:buClr>
              <a:buSzPts val="1100"/>
              <a:buNone/>
              <a:defRPr sz="1100"/>
            </a:lvl2pPr>
            <a:lvl3pPr indent="-228600" lvl="2" marL="1371600" algn="l">
              <a:lnSpc>
                <a:spcPct val="90000"/>
              </a:lnSpc>
              <a:spcBef>
                <a:spcPts val="400"/>
              </a:spcBef>
              <a:spcAft>
                <a:spcPts val="0"/>
              </a:spcAft>
              <a:buClr>
                <a:srgbClr val="57595A"/>
              </a:buClr>
              <a:buSzPts val="900"/>
              <a:buNone/>
              <a:defRPr sz="900"/>
            </a:lvl3pPr>
            <a:lvl4pPr indent="-228600" lvl="3" marL="1828800" algn="l">
              <a:lnSpc>
                <a:spcPct val="90000"/>
              </a:lnSpc>
              <a:spcBef>
                <a:spcPts val="400"/>
              </a:spcBef>
              <a:spcAft>
                <a:spcPts val="0"/>
              </a:spcAft>
              <a:buClr>
                <a:srgbClr val="57595A"/>
              </a:buClr>
              <a:buSzPts val="800"/>
              <a:buNone/>
              <a:defRPr sz="800"/>
            </a:lvl4pPr>
            <a:lvl5pPr indent="-228600" lvl="4" marL="2286000" algn="l">
              <a:lnSpc>
                <a:spcPct val="90000"/>
              </a:lnSpc>
              <a:spcBef>
                <a:spcPts val="400"/>
              </a:spcBef>
              <a:spcAft>
                <a:spcPts val="0"/>
              </a:spcAft>
              <a:buClr>
                <a:srgbClr val="57595A"/>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pic>
        <p:nvPicPr>
          <p:cNvPr id="82" name="Google Shape;82;g3c2d0279d42_0_279"/>
          <p:cNvPicPr preferRelativeResize="0"/>
          <p:nvPr/>
        </p:nvPicPr>
        <p:blipFill rotWithShape="1">
          <a:blip r:embed="rId2">
            <a:alphaModFix/>
          </a:blip>
          <a:srcRect b="0" l="0" r="0" t="0"/>
          <a:stretch/>
        </p:blipFill>
        <p:spPr>
          <a:xfrm>
            <a:off x="314325" y="4243388"/>
            <a:ext cx="1408438" cy="6191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3" name="Shape 83"/>
        <p:cNvGrpSpPr/>
        <p:nvPr/>
      </p:nvGrpSpPr>
      <p:grpSpPr>
        <a:xfrm>
          <a:off x="0" y="0"/>
          <a:ext cx="0" cy="0"/>
          <a:chOff x="0" y="0"/>
          <a:chExt cx="0" cy="0"/>
        </a:xfrm>
      </p:grpSpPr>
      <p:pic>
        <p:nvPicPr>
          <p:cNvPr id="84" name="Google Shape;84;g3c2d0279d42_0_28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5" name="Google Shape;85;g3c2d0279d42_0_284"/>
          <p:cNvSpPr txBox="1"/>
          <p:nvPr>
            <p:ph type="title"/>
          </p:nvPr>
        </p:nvSpPr>
        <p:spPr>
          <a:xfrm>
            <a:off x="396478" y="1282304"/>
            <a:ext cx="8114100" cy="17502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2"/>
              </a:buClr>
              <a:buSzPts val="4500"/>
              <a:buFont typeface="Avenir"/>
              <a:buNone/>
              <a:defRPr sz="4500">
                <a:solidFill>
                  <a:schemeClr val="l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6" name="Google Shape;86;g3c2d0279d42_0_284"/>
          <p:cNvSpPr txBox="1"/>
          <p:nvPr>
            <p:ph idx="1" type="body"/>
          </p:nvPr>
        </p:nvSpPr>
        <p:spPr>
          <a:xfrm>
            <a:off x="396478" y="3128963"/>
            <a:ext cx="8114100" cy="14382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8C9C9"/>
              </a:buClr>
              <a:buSzPts val="1800"/>
              <a:buNone/>
              <a:defRPr sz="1800">
                <a:solidFill>
                  <a:srgbClr val="C8C9C9"/>
                </a:solidFill>
              </a:defRPr>
            </a:lvl1pPr>
            <a:lvl2pPr indent="-228600" lvl="1" marL="914400" algn="l">
              <a:lnSpc>
                <a:spcPct val="90000"/>
              </a:lnSpc>
              <a:spcBef>
                <a:spcPts val="400"/>
              </a:spcBef>
              <a:spcAft>
                <a:spcPts val="0"/>
              </a:spcAft>
              <a:buClr>
                <a:srgbClr val="C8C9C9"/>
              </a:buClr>
              <a:buSzPts val="1500"/>
              <a:buNone/>
              <a:defRPr sz="1500">
                <a:solidFill>
                  <a:srgbClr val="C8C9C9"/>
                </a:solidFill>
              </a:defRPr>
            </a:lvl2pPr>
            <a:lvl3pPr indent="-228600" lvl="2" marL="1371600" algn="l">
              <a:lnSpc>
                <a:spcPct val="90000"/>
              </a:lnSpc>
              <a:spcBef>
                <a:spcPts val="400"/>
              </a:spcBef>
              <a:spcAft>
                <a:spcPts val="0"/>
              </a:spcAft>
              <a:buClr>
                <a:srgbClr val="C8C9C9"/>
              </a:buClr>
              <a:buSzPts val="1400"/>
              <a:buNone/>
              <a:defRPr sz="1400">
                <a:solidFill>
                  <a:srgbClr val="C8C9C9"/>
                </a:solidFill>
              </a:defRPr>
            </a:lvl3pPr>
            <a:lvl4pPr indent="-228600" lvl="3" marL="1828800" algn="l">
              <a:lnSpc>
                <a:spcPct val="90000"/>
              </a:lnSpc>
              <a:spcBef>
                <a:spcPts val="400"/>
              </a:spcBef>
              <a:spcAft>
                <a:spcPts val="0"/>
              </a:spcAft>
              <a:buClr>
                <a:srgbClr val="C8C9C9"/>
              </a:buClr>
              <a:buSzPts val="1200"/>
              <a:buNone/>
              <a:defRPr sz="1200">
                <a:solidFill>
                  <a:srgbClr val="C8C9C9"/>
                </a:solidFill>
              </a:defRPr>
            </a:lvl4pPr>
            <a:lvl5pPr indent="-228600" lvl="4" marL="2286000" algn="l">
              <a:lnSpc>
                <a:spcPct val="90000"/>
              </a:lnSpc>
              <a:spcBef>
                <a:spcPts val="400"/>
              </a:spcBef>
              <a:spcAft>
                <a:spcPts val="0"/>
              </a:spcAft>
              <a:buClr>
                <a:srgbClr val="C8C9C9"/>
              </a:buClr>
              <a:buSzPts val="1200"/>
              <a:buNone/>
              <a:defRPr sz="1200">
                <a:solidFill>
                  <a:srgbClr val="C8C9C9"/>
                </a:solidFill>
              </a:defRPr>
            </a:lvl5pPr>
            <a:lvl6pPr indent="-228600" lvl="5" marL="2743200" algn="l">
              <a:lnSpc>
                <a:spcPct val="90000"/>
              </a:lnSpc>
              <a:spcBef>
                <a:spcPts val="400"/>
              </a:spcBef>
              <a:spcAft>
                <a:spcPts val="0"/>
              </a:spcAft>
              <a:buClr>
                <a:srgbClr val="C8C9C9"/>
              </a:buClr>
              <a:buSzPts val="1200"/>
              <a:buNone/>
              <a:defRPr sz="1200">
                <a:solidFill>
                  <a:srgbClr val="C8C9C9"/>
                </a:solidFill>
              </a:defRPr>
            </a:lvl6pPr>
            <a:lvl7pPr indent="-228600" lvl="6" marL="3200400" algn="l">
              <a:lnSpc>
                <a:spcPct val="90000"/>
              </a:lnSpc>
              <a:spcBef>
                <a:spcPts val="400"/>
              </a:spcBef>
              <a:spcAft>
                <a:spcPts val="0"/>
              </a:spcAft>
              <a:buClr>
                <a:srgbClr val="C8C9C9"/>
              </a:buClr>
              <a:buSzPts val="1200"/>
              <a:buNone/>
              <a:defRPr sz="1200">
                <a:solidFill>
                  <a:srgbClr val="C8C9C9"/>
                </a:solidFill>
              </a:defRPr>
            </a:lvl7pPr>
            <a:lvl8pPr indent="-228600" lvl="7" marL="3657600" algn="l">
              <a:lnSpc>
                <a:spcPct val="90000"/>
              </a:lnSpc>
              <a:spcBef>
                <a:spcPts val="400"/>
              </a:spcBef>
              <a:spcAft>
                <a:spcPts val="0"/>
              </a:spcAft>
              <a:buClr>
                <a:srgbClr val="C8C9C9"/>
              </a:buClr>
              <a:buSzPts val="1200"/>
              <a:buNone/>
              <a:defRPr sz="1200">
                <a:solidFill>
                  <a:srgbClr val="C8C9C9"/>
                </a:solidFill>
              </a:defRPr>
            </a:lvl8pPr>
            <a:lvl9pPr indent="-228600" lvl="8" marL="4114800" algn="l">
              <a:lnSpc>
                <a:spcPct val="90000"/>
              </a:lnSpc>
              <a:spcBef>
                <a:spcPts val="400"/>
              </a:spcBef>
              <a:spcAft>
                <a:spcPts val="0"/>
              </a:spcAft>
              <a:buClr>
                <a:srgbClr val="C8C9C9"/>
              </a:buClr>
              <a:buSzPts val="1200"/>
              <a:buNone/>
              <a:defRPr sz="1200">
                <a:solidFill>
                  <a:srgbClr val="C8C9C9"/>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g3c2d0279d42_0_28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g3c2d0279d42_0_288"/>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90" name="Google Shape;90;g3c2d0279d42_0_288"/>
          <p:cNvPicPr preferRelativeResize="0"/>
          <p:nvPr/>
        </p:nvPicPr>
        <p:blipFill rotWithShape="1">
          <a:blip r:embed="rId2">
            <a:alphaModFix/>
          </a:blip>
          <a:srcRect b="0" l="0" r="0" t="0"/>
          <a:stretch/>
        </p:blipFill>
        <p:spPr>
          <a:xfrm>
            <a:off x="314325" y="4243388"/>
            <a:ext cx="1408438" cy="61912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g3c2d0279d42_0_29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g3c2d0279d42_0_29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 name="Google Shape;94;g3c2d0279d42_0_292"/>
          <p:cNvSpPr txBox="1"/>
          <p:nvPr>
            <p:ph idx="10" type="dt"/>
          </p:nvPr>
        </p:nvSpPr>
        <p:spPr>
          <a:xfrm>
            <a:off x="628650" y="4767263"/>
            <a:ext cx="2057400" cy="2739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5" name="Google Shape;95;g3c2d0279d42_0_292"/>
          <p:cNvSpPr txBox="1"/>
          <p:nvPr>
            <p:ph idx="11" type="ftr"/>
          </p:nvPr>
        </p:nvSpPr>
        <p:spPr>
          <a:xfrm>
            <a:off x="3028950" y="4767263"/>
            <a:ext cx="3086100" cy="2739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6" name="Google Shape;96;g3c2d0279d42_0_292"/>
          <p:cNvSpPr txBox="1"/>
          <p:nvPr>
            <p:ph idx="12" type="sldNum"/>
          </p:nvPr>
        </p:nvSpPr>
        <p:spPr>
          <a:xfrm>
            <a:off x="6457950" y="4767263"/>
            <a:ext cx="20574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97" name="Shape 97"/>
        <p:cNvGrpSpPr/>
        <p:nvPr/>
      </p:nvGrpSpPr>
      <p:grpSpPr>
        <a:xfrm>
          <a:off x="0" y="0"/>
          <a:ext cx="0" cy="0"/>
          <a:chOff x="0" y="0"/>
          <a:chExt cx="0" cy="0"/>
        </a:xfrm>
      </p:grpSpPr>
      <p:pic>
        <p:nvPicPr>
          <p:cNvPr id="98" name="Google Shape;98;g3c2d0279d42_0_298"/>
          <p:cNvPicPr preferRelativeResize="0"/>
          <p:nvPr/>
        </p:nvPicPr>
        <p:blipFill rotWithShape="1">
          <a:blip r:embed="rId2">
            <a:alphaModFix/>
          </a:blip>
          <a:srcRect b="0" l="0" r="0" t="0"/>
          <a:stretch/>
        </p:blipFill>
        <p:spPr>
          <a:xfrm>
            <a:off x="314325" y="4243388"/>
            <a:ext cx="1408438" cy="619125"/>
          </a:xfrm>
          <a:prstGeom prst="rect">
            <a:avLst/>
          </a:prstGeom>
          <a:noFill/>
          <a:ln>
            <a:noFill/>
          </a:ln>
        </p:spPr>
      </p:pic>
      <p:sp>
        <p:nvSpPr>
          <p:cNvPr id="99" name="Google Shape;99;g3c2d0279d42_0_29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g3c2d0279d42_0_29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57595A"/>
              </a:buClr>
              <a:buSzPts val="1400"/>
              <a:buChar char="•"/>
              <a:defRPr/>
            </a:lvl1pPr>
            <a:lvl2pPr indent="-317500" lvl="1" marL="914400" algn="l">
              <a:lnSpc>
                <a:spcPct val="90000"/>
              </a:lnSpc>
              <a:spcBef>
                <a:spcPts val="400"/>
              </a:spcBef>
              <a:spcAft>
                <a:spcPts val="0"/>
              </a:spcAft>
              <a:buClr>
                <a:srgbClr val="57595A"/>
              </a:buClr>
              <a:buSzPts val="1400"/>
              <a:buChar char="•"/>
              <a:defRPr/>
            </a:lvl2pPr>
            <a:lvl3pPr indent="-317500" lvl="2" marL="1371600" algn="l">
              <a:lnSpc>
                <a:spcPct val="90000"/>
              </a:lnSpc>
              <a:spcBef>
                <a:spcPts val="400"/>
              </a:spcBef>
              <a:spcAft>
                <a:spcPts val="0"/>
              </a:spcAft>
              <a:buClr>
                <a:srgbClr val="57595A"/>
              </a:buClr>
              <a:buSzPts val="1400"/>
              <a:buChar char="•"/>
              <a:defRPr/>
            </a:lvl3pPr>
            <a:lvl4pPr indent="-317500" lvl="3" marL="1828800" algn="l">
              <a:lnSpc>
                <a:spcPct val="90000"/>
              </a:lnSpc>
              <a:spcBef>
                <a:spcPts val="400"/>
              </a:spcBef>
              <a:spcAft>
                <a:spcPts val="0"/>
              </a:spcAft>
              <a:buClr>
                <a:srgbClr val="57595A"/>
              </a:buClr>
              <a:buSzPts val="1400"/>
              <a:buChar char="•"/>
              <a:defRPr/>
            </a:lvl4pPr>
            <a:lvl5pPr indent="-317500" lvl="4" marL="2286000" algn="l">
              <a:lnSpc>
                <a:spcPct val="90000"/>
              </a:lnSpc>
              <a:spcBef>
                <a:spcPts val="400"/>
              </a:spcBef>
              <a:spcAft>
                <a:spcPts val="0"/>
              </a:spcAft>
              <a:buClr>
                <a:srgbClr val="57595A"/>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2.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accent3"/>
              </a:buClr>
              <a:buSzPts val="3300"/>
              <a:buFont typeface="Avenir"/>
              <a:buNone/>
              <a:defRPr b="0" i="0" sz="3300" u="none" cap="none" strike="noStrike">
                <a:solidFill>
                  <a:schemeClr val="accent3"/>
                </a:solidFill>
                <a:latin typeface="Avenir"/>
                <a:ea typeface="Avenir"/>
                <a:cs typeface="Avenir"/>
                <a:sym typeface="Avenir"/>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rgbClr val="57595A"/>
              </a:buClr>
              <a:buSzPts val="2100"/>
              <a:buFont typeface="Arial"/>
              <a:buChar char="•"/>
              <a:defRPr b="0" i="0" sz="2100" u="none" cap="none" strike="noStrike">
                <a:solidFill>
                  <a:srgbClr val="57595A"/>
                </a:solidFill>
                <a:latin typeface="Avenir"/>
                <a:ea typeface="Avenir"/>
                <a:cs typeface="Avenir"/>
                <a:sym typeface="Avenir"/>
              </a:defRPr>
            </a:lvl1pPr>
            <a:lvl2pPr indent="-342900" lvl="1" marL="914400" marR="0" rtl="0" algn="l">
              <a:lnSpc>
                <a:spcPct val="90000"/>
              </a:lnSpc>
              <a:spcBef>
                <a:spcPts val="400"/>
              </a:spcBef>
              <a:spcAft>
                <a:spcPts val="0"/>
              </a:spcAft>
              <a:buClr>
                <a:srgbClr val="57595A"/>
              </a:buClr>
              <a:buSzPts val="1800"/>
              <a:buFont typeface="Arial"/>
              <a:buChar char="•"/>
              <a:defRPr b="0" i="0" sz="1800" u="none" cap="none" strike="noStrike">
                <a:solidFill>
                  <a:srgbClr val="57595A"/>
                </a:solidFill>
                <a:latin typeface="Avenir"/>
                <a:ea typeface="Avenir"/>
                <a:cs typeface="Avenir"/>
                <a:sym typeface="Avenir"/>
              </a:defRPr>
            </a:lvl2pPr>
            <a:lvl3pPr indent="-323850" lvl="2" marL="1371600" marR="0" rtl="0" algn="l">
              <a:lnSpc>
                <a:spcPct val="90000"/>
              </a:lnSpc>
              <a:spcBef>
                <a:spcPts val="400"/>
              </a:spcBef>
              <a:spcAft>
                <a:spcPts val="0"/>
              </a:spcAft>
              <a:buClr>
                <a:srgbClr val="57595A"/>
              </a:buClr>
              <a:buSzPts val="1500"/>
              <a:buFont typeface="Arial"/>
              <a:buChar char="•"/>
              <a:defRPr b="0" i="0" sz="1500" u="none" cap="none" strike="noStrike">
                <a:solidFill>
                  <a:srgbClr val="57595A"/>
                </a:solidFill>
                <a:latin typeface="Avenir"/>
                <a:ea typeface="Avenir"/>
                <a:cs typeface="Avenir"/>
                <a:sym typeface="Avenir"/>
              </a:defRPr>
            </a:lvl3pPr>
            <a:lvl4pPr indent="-317500" lvl="3" marL="1828800" marR="0" rtl="0" algn="l">
              <a:lnSpc>
                <a:spcPct val="90000"/>
              </a:lnSpc>
              <a:spcBef>
                <a:spcPts val="400"/>
              </a:spcBef>
              <a:spcAft>
                <a:spcPts val="0"/>
              </a:spcAft>
              <a:buClr>
                <a:srgbClr val="57595A"/>
              </a:buClr>
              <a:buSzPts val="1400"/>
              <a:buFont typeface="Arial"/>
              <a:buChar char="•"/>
              <a:defRPr b="0" i="0" sz="1400" u="none" cap="none" strike="noStrike">
                <a:solidFill>
                  <a:srgbClr val="57595A"/>
                </a:solidFill>
                <a:latin typeface="Avenir"/>
                <a:ea typeface="Avenir"/>
                <a:cs typeface="Avenir"/>
                <a:sym typeface="Avenir"/>
              </a:defRPr>
            </a:lvl4pPr>
            <a:lvl5pPr indent="-317500" lvl="4" marL="2286000" marR="0" rtl="0" algn="l">
              <a:lnSpc>
                <a:spcPct val="90000"/>
              </a:lnSpc>
              <a:spcBef>
                <a:spcPts val="400"/>
              </a:spcBef>
              <a:spcAft>
                <a:spcPts val="0"/>
              </a:spcAft>
              <a:buClr>
                <a:srgbClr val="57595A"/>
              </a:buClr>
              <a:buSzPts val="1400"/>
              <a:buFont typeface="Arial"/>
              <a:buChar char="•"/>
              <a:defRPr b="0" i="0" sz="1400" u="none" cap="none" strike="noStrike">
                <a:solidFill>
                  <a:srgbClr val="57595A"/>
                </a:solidFill>
                <a:latin typeface="Avenir"/>
                <a:ea typeface="Avenir"/>
                <a:cs typeface="Avenir"/>
                <a:sym typeface="Avenir"/>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g3c2d0279d42_0_2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accent3"/>
              </a:buClr>
              <a:buSzPts val="3300"/>
              <a:buFont typeface="Avenir"/>
              <a:buNone/>
              <a:defRPr b="0" i="0" sz="3300" u="none" cap="none" strike="noStrike">
                <a:solidFill>
                  <a:schemeClr val="accent3"/>
                </a:solidFill>
                <a:latin typeface="Avenir"/>
                <a:ea typeface="Avenir"/>
                <a:cs typeface="Avenir"/>
                <a:sym typeface="Avenir"/>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g3c2d0279d42_0_2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rgbClr val="57595A"/>
              </a:buClr>
              <a:buSzPts val="2100"/>
              <a:buFont typeface="Arial"/>
              <a:buChar char="•"/>
              <a:defRPr b="0" i="0" sz="2100" u="none" cap="none" strike="noStrike">
                <a:solidFill>
                  <a:srgbClr val="57595A"/>
                </a:solidFill>
                <a:latin typeface="Avenir"/>
                <a:ea typeface="Avenir"/>
                <a:cs typeface="Avenir"/>
                <a:sym typeface="Avenir"/>
              </a:defRPr>
            </a:lvl1pPr>
            <a:lvl2pPr indent="-342900" lvl="1" marL="914400" marR="0" algn="l">
              <a:lnSpc>
                <a:spcPct val="90000"/>
              </a:lnSpc>
              <a:spcBef>
                <a:spcPts val="400"/>
              </a:spcBef>
              <a:spcAft>
                <a:spcPts val="0"/>
              </a:spcAft>
              <a:buClr>
                <a:srgbClr val="57595A"/>
              </a:buClr>
              <a:buSzPts val="1800"/>
              <a:buFont typeface="Arial"/>
              <a:buChar char="•"/>
              <a:defRPr b="0" i="0" sz="1800" u="none" cap="none" strike="noStrike">
                <a:solidFill>
                  <a:srgbClr val="57595A"/>
                </a:solidFill>
                <a:latin typeface="Avenir"/>
                <a:ea typeface="Avenir"/>
                <a:cs typeface="Avenir"/>
                <a:sym typeface="Avenir"/>
              </a:defRPr>
            </a:lvl2pPr>
            <a:lvl3pPr indent="-323850" lvl="2" marL="1371600" marR="0" algn="l">
              <a:lnSpc>
                <a:spcPct val="90000"/>
              </a:lnSpc>
              <a:spcBef>
                <a:spcPts val="400"/>
              </a:spcBef>
              <a:spcAft>
                <a:spcPts val="0"/>
              </a:spcAft>
              <a:buClr>
                <a:srgbClr val="57595A"/>
              </a:buClr>
              <a:buSzPts val="1500"/>
              <a:buFont typeface="Arial"/>
              <a:buChar char="•"/>
              <a:defRPr b="0" i="0" sz="1500" u="none" cap="none" strike="noStrike">
                <a:solidFill>
                  <a:srgbClr val="57595A"/>
                </a:solidFill>
                <a:latin typeface="Avenir"/>
                <a:ea typeface="Avenir"/>
                <a:cs typeface="Avenir"/>
                <a:sym typeface="Avenir"/>
              </a:defRPr>
            </a:lvl3pPr>
            <a:lvl4pPr indent="-317500" lvl="3" marL="1828800" marR="0" algn="l">
              <a:lnSpc>
                <a:spcPct val="90000"/>
              </a:lnSpc>
              <a:spcBef>
                <a:spcPts val="400"/>
              </a:spcBef>
              <a:spcAft>
                <a:spcPts val="0"/>
              </a:spcAft>
              <a:buClr>
                <a:srgbClr val="57595A"/>
              </a:buClr>
              <a:buSzPts val="1400"/>
              <a:buFont typeface="Arial"/>
              <a:buChar char="•"/>
              <a:defRPr b="0" i="0" sz="1400" u="none" cap="none" strike="noStrike">
                <a:solidFill>
                  <a:srgbClr val="57595A"/>
                </a:solidFill>
                <a:latin typeface="Avenir"/>
                <a:ea typeface="Avenir"/>
                <a:cs typeface="Avenir"/>
                <a:sym typeface="Avenir"/>
              </a:defRPr>
            </a:lvl4pPr>
            <a:lvl5pPr indent="-317500" lvl="4" marL="2286000" marR="0" algn="l">
              <a:lnSpc>
                <a:spcPct val="90000"/>
              </a:lnSpc>
              <a:spcBef>
                <a:spcPts val="400"/>
              </a:spcBef>
              <a:spcAft>
                <a:spcPts val="0"/>
              </a:spcAft>
              <a:buClr>
                <a:srgbClr val="57595A"/>
              </a:buClr>
              <a:buSzPts val="1400"/>
              <a:buFont typeface="Arial"/>
              <a:buChar char="•"/>
              <a:defRPr b="0" i="0" sz="1400" u="none" cap="none" strike="noStrike">
                <a:solidFill>
                  <a:srgbClr val="57595A"/>
                </a:solidFill>
                <a:latin typeface="Avenir"/>
                <a:ea typeface="Avenir"/>
                <a:cs typeface="Avenir"/>
                <a:sym typeface="Avenir"/>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6.jp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60095ba283_0_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b="1" lang="en" u="sng"/>
              <a:t>Date: Monday, 2nd February 2026</a:t>
            </a:r>
            <a:endParaRPr b="1" u="sng"/>
          </a:p>
          <a:p>
            <a:pPr indent="0" lvl="0" marL="0" rtl="0" algn="l">
              <a:lnSpc>
                <a:spcPct val="90000"/>
              </a:lnSpc>
              <a:spcBef>
                <a:spcPts val="0"/>
              </a:spcBef>
              <a:spcAft>
                <a:spcPts val="0"/>
              </a:spcAft>
              <a:buSzPts val="3300"/>
              <a:buNone/>
            </a:pPr>
            <a:r>
              <a:rPr b="1" lang="en" u="sng"/>
              <a:t>Title: Legislation and Business</a:t>
            </a:r>
            <a:endParaRPr b="1" u="sng"/>
          </a:p>
        </p:txBody>
      </p:sp>
      <p:sp>
        <p:nvSpPr>
          <p:cNvPr id="106" name="Google Shape;106;g360095ba283_0_2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lang="en" sz="1800">
                <a:solidFill>
                  <a:srgbClr val="FF0000"/>
                </a:solidFill>
              </a:rPr>
              <a:t>Read each of the following statements. Write </a:t>
            </a:r>
            <a:r>
              <a:rPr b="1" lang="en" sz="1800">
                <a:solidFill>
                  <a:srgbClr val="FF0000"/>
                </a:solidFill>
              </a:rPr>
              <a:t>“True”</a:t>
            </a:r>
            <a:r>
              <a:rPr lang="en" sz="1800">
                <a:solidFill>
                  <a:srgbClr val="FF0000"/>
                </a:solidFill>
              </a:rPr>
              <a:t> if you think it’s a real legal requirement for businesses, or </a:t>
            </a:r>
            <a:r>
              <a:rPr b="1" lang="en" sz="1800">
                <a:solidFill>
                  <a:srgbClr val="FF0000"/>
                </a:solidFill>
              </a:rPr>
              <a:t>“False”</a:t>
            </a:r>
            <a:r>
              <a:rPr lang="en" sz="1800">
                <a:solidFill>
                  <a:srgbClr val="FF0000"/>
                </a:solidFill>
              </a:rPr>
              <a:t> if you think it’s not.</a:t>
            </a:r>
            <a:endParaRPr sz="1800">
              <a:solidFill>
                <a:srgbClr val="FF0000"/>
              </a:solidFill>
            </a:endParaRPr>
          </a:p>
          <a:p>
            <a:pPr indent="-342900" lvl="0" marL="457200" rtl="0" algn="l">
              <a:lnSpc>
                <a:spcPct val="90000"/>
              </a:lnSpc>
              <a:spcBef>
                <a:spcPts val="800"/>
              </a:spcBef>
              <a:spcAft>
                <a:spcPts val="0"/>
              </a:spcAft>
              <a:buClr>
                <a:srgbClr val="434343"/>
              </a:buClr>
              <a:buSzPts val="1800"/>
              <a:buAutoNum type="arabicPeriod"/>
            </a:pPr>
            <a:r>
              <a:rPr lang="en" sz="1800">
                <a:solidFill>
                  <a:srgbClr val="434343"/>
                </a:solidFill>
              </a:rPr>
              <a:t>A business must refund a customer if the product is faulty.</a:t>
            </a:r>
            <a:br>
              <a:rPr lang="en" sz="1800">
                <a:solidFill>
                  <a:srgbClr val="434343"/>
                </a:solidFill>
              </a:rPr>
            </a:br>
            <a:endParaRPr sz="1800">
              <a:solidFill>
                <a:srgbClr val="434343"/>
              </a:solidFill>
            </a:endParaRPr>
          </a:p>
          <a:p>
            <a:pPr indent="-342900" lvl="0" marL="457200" rtl="0" algn="l">
              <a:lnSpc>
                <a:spcPct val="90000"/>
              </a:lnSpc>
              <a:spcBef>
                <a:spcPts val="0"/>
              </a:spcBef>
              <a:spcAft>
                <a:spcPts val="0"/>
              </a:spcAft>
              <a:buClr>
                <a:srgbClr val="434343"/>
              </a:buClr>
              <a:buSzPts val="1800"/>
              <a:buAutoNum type="arabicPeriod"/>
            </a:pPr>
            <a:r>
              <a:rPr lang="en" sz="1800">
                <a:solidFill>
                  <a:srgbClr val="434343"/>
                </a:solidFill>
              </a:rPr>
              <a:t>A business can legally pay 15-year-olds £1.50 per hour.</a:t>
            </a:r>
            <a:br>
              <a:rPr lang="en" sz="1800">
                <a:solidFill>
                  <a:srgbClr val="434343"/>
                </a:solidFill>
              </a:rPr>
            </a:br>
            <a:endParaRPr sz="1800">
              <a:solidFill>
                <a:srgbClr val="434343"/>
              </a:solidFill>
            </a:endParaRPr>
          </a:p>
          <a:p>
            <a:pPr indent="-342900" lvl="0" marL="457200" rtl="0" algn="l">
              <a:lnSpc>
                <a:spcPct val="90000"/>
              </a:lnSpc>
              <a:spcBef>
                <a:spcPts val="0"/>
              </a:spcBef>
              <a:spcAft>
                <a:spcPts val="0"/>
              </a:spcAft>
              <a:buClr>
                <a:srgbClr val="434343"/>
              </a:buClr>
              <a:buSzPts val="1800"/>
              <a:buAutoNum type="arabicPeriod"/>
            </a:pPr>
            <a:r>
              <a:rPr lang="en" sz="1800">
                <a:solidFill>
                  <a:srgbClr val="434343"/>
                </a:solidFill>
              </a:rPr>
              <a:t>A business can fire an employee for being pregnant.</a:t>
            </a:r>
            <a:br>
              <a:rPr lang="en" sz="1800">
                <a:solidFill>
                  <a:srgbClr val="434343"/>
                </a:solidFill>
              </a:rPr>
            </a:br>
            <a:endParaRPr sz="1800">
              <a:solidFill>
                <a:srgbClr val="434343"/>
              </a:solidFill>
            </a:endParaRPr>
          </a:p>
          <a:p>
            <a:pPr indent="-342900" lvl="0" marL="457200" rtl="0" algn="l">
              <a:lnSpc>
                <a:spcPct val="90000"/>
              </a:lnSpc>
              <a:spcBef>
                <a:spcPts val="0"/>
              </a:spcBef>
              <a:spcAft>
                <a:spcPts val="0"/>
              </a:spcAft>
              <a:buClr>
                <a:srgbClr val="434343"/>
              </a:buClr>
              <a:buSzPts val="1800"/>
              <a:buAutoNum type="arabicPeriod"/>
            </a:pPr>
            <a:r>
              <a:rPr lang="en" sz="1800">
                <a:solidFill>
                  <a:srgbClr val="434343"/>
                </a:solidFill>
              </a:rPr>
              <a:t>All employees must be given safety training.</a:t>
            </a:r>
            <a:br>
              <a:rPr lang="en" sz="1800">
                <a:solidFill>
                  <a:srgbClr val="434343"/>
                </a:solidFill>
              </a:rPr>
            </a:br>
            <a:endParaRPr sz="1800">
              <a:solidFill>
                <a:srgbClr val="434343"/>
              </a:solidFill>
            </a:endParaRPr>
          </a:p>
          <a:p>
            <a:pPr indent="-342900" lvl="0" marL="457200" rtl="0" algn="l">
              <a:lnSpc>
                <a:spcPct val="90000"/>
              </a:lnSpc>
              <a:spcBef>
                <a:spcPts val="0"/>
              </a:spcBef>
              <a:spcAft>
                <a:spcPts val="0"/>
              </a:spcAft>
              <a:buClr>
                <a:srgbClr val="434343"/>
              </a:buClr>
              <a:buSzPts val="1800"/>
              <a:buAutoNum type="arabicPeriod"/>
            </a:pPr>
            <a:r>
              <a:rPr lang="en" sz="1800">
                <a:solidFill>
                  <a:srgbClr val="434343"/>
                </a:solidFill>
              </a:rPr>
              <a:t>Shops don’t have to accept returns for any item once it’s been opened.</a:t>
            </a:r>
            <a:endParaRPr sz="1800">
              <a:solidFill>
                <a:srgbClr val="434343"/>
              </a:solidFill>
            </a:endParaRPr>
          </a:p>
          <a:p>
            <a:pPr indent="0" lvl="0" marL="0" rtl="0" algn="l">
              <a:lnSpc>
                <a:spcPct val="90000"/>
              </a:lnSpc>
              <a:spcBef>
                <a:spcPts val="800"/>
              </a:spcBef>
              <a:spcAft>
                <a:spcPts val="0"/>
              </a:spcAft>
              <a:buSzPts val="1400"/>
              <a:buNone/>
            </a:pPr>
            <a:r>
              <a:t/>
            </a:r>
            <a:endParaRPr sz="1800">
              <a:solidFill>
                <a:srgbClr val="434343"/>
              </a:solidFill>
            </a:endParaRPr>
          </a:p>
        </p:txBody>
      </p:sp>
      <p:pic>
        <p:nvPicPr>
          <p:cNvPr id="107" name="Google Shape;107;g360095ba283_0_20"/>
          <p:cNvPicPr preferRelativeResize="0"/>
          <p:nvPr/>
        </p:nvPicPr>
        <p:blipFill rotWithShape="1">
          <a:blip r:embed="rId3">
            <a:alphaModFix/>
          </a:blip>
          <a:srcRect b="25691" l="27360" r="21294" t="30940"/>
          <a:stretch/>
        </p:blipFill>
        <p:spPr>
          <a:xfrm>
            <a:off x="7375925" y="2111359"/>
            <a:ext cx="791325" cy="847441"/>
          </a:xfrm>
          <a:prstGeom prst="rect">
            <a:avLst/>
          </a:prstGeom>
          <a:noFill/>
          <a:ln>
            <a:noFill/>
          </a:ln>
        </p:spPr>
      </p:pic>
      <p:pic>
        <p:nvPicPr>
          <p:cNvPr id="108" name="Google Shape;108;g360095ba283_0_20"/>
          <p:cNvPicPr preferRelativeResize="0"/>
          <p:nvPr/>
        </p:nvPicPr>
        <p:blipFill rotWithShape="1">
          <a:blip r:embed="rId4">
            <a:alphaModFix/>
          </a:blip>
          <a:srcRect b="-4806" l="11690" r="21509" t="16925"/>
          <a:stretch/>
        </p:blipFill>
        <p:spPr>
          <a:xfrm>
            <a:off x="7441862" y="2894425"/>
            <a:ext cx="515550" cy="678250"/>
          </a:xfrm>
          <a:prstGeom prst="rect">
            <a:avLst/>
          </a:prstGeom>
          <a:noFill/>
          <a:ln>
            <a:noFill/>
          </a:ln>
        </p:spPr>
      </p:pic>
      <p:sp>
        <p:nvSpPr>
          <p:cNvPr id="109" name="Google Shape;109;g360095ba283_0_20"/>
          <p:cNvSpPr txBox="1"/>
          <p:nvPr/>
        </p:nvSpPr>
        <p:spPr>
          <a:xfrm>
            <a:off x="8167250" y="2320488"/>
            <a:ext cx="683400" cy="30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sz="1200">
                <a:solidFill>
                  <a:srgbClr val="FF0000"/>
                </a:solidFill>
                <a:latin typeface="Avenir"/>
                <a:ea typeface="Avenir"/>
                <a:cs typeface="Avenir"/>
                <a:sym typeface="Avenir"/>
              </a:rPr>
              <a:t>True</a:t>
            </a:r>
            <a:endParaRPr b="1" i="0" sz="1200" u="none" cap="none" strike="noStrike">
              <a:solidFill>
                <a:srgbClr val="FF0000"/>
              </a:solidFill>
              <a:latin typeface="Avenir"/>
              <a:ea typeface="Avenir"/>
              <a:cs typeface="Avenir"/>
              <a:sym typeface="Avenir"/>
            </a:endParaRPr>
          </a:p>
        </p:txBody>
      </p:sp>
      <p:sp>
        <p:nvSpPr>
          <p:cNvPr id="110" name="Google Shape;110;g360095ba283_0_20"/>
          <p:cNvSpPr txBox="1"/>
          <p:nvPr/>
        </p:nvSpPr>
        <p:spPr>
          <a:xfrm>
            <a:off x="8119275" y="2958800"/>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lang="en" sz="1200">
                <a:solidFill>
                  <a:srgbClr val="FF0000"/>
                </a:solidFill>
                <a:latin typeface="Avenir"/>
                <a:ea typeface="Avenir"/>
                <a:cs typeface="Avenir"/>
                <a:sym typeface="Avenir"/>
              </a:rPr>
              <a:t>False</a:t>
            </a:r>
            <a:endParaRPr b="1" i="0" sz="1400" u="none" cap="none" strike="noStrike">
              <a:solidFill>
                <a:srgbClr val="FF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60095ba283_0_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rgbClr val="000000"/>
              </a:buClr>
              <a:buSzPct val="100000"/>
              <a:buFont typeface="Arial"/>
              <a:buNone/>
            </a:pPr>
            <a:r>
              <a:rPr b="1" lang="en" u="sng"/>
              <a:t>Date: Monday, 2nd February 2026</a:t>
            </a:r>
            <a:endParaRPr b="1" u="sng"/>
          </a:p>
          <a:p>
            <a:pPr indent="0" lvl="0" marL="0" rtl="0" algn="l">
              <a:spcBef>
                <a:spcPts val="0"/>
              </a:spcBef>
              <a:spcAft>
                <a:spcPts val="0"/>
              </a:spcAft>
              <a:buClr>
                <a:srgbClr val="000000"/>
              </a:buClr>
              <a:buSzPct val="100000"/>
              <a:buFont typeface="Arial"/>
              <a:buNone/>
            </a:pPr>
            <a:r>
              <a:rPr b="1" lang="en" u="sng"/>
              <a:t>Title: Legislation and Business</a:t>
            </a:r>
            <a:endParaRPr b="1" u="sng"/>
          </a:p>
          <a:p>
            <a:pPr indent="0" lvl="0" marL="0" rtl="0" algn="l">
              <a:lnSpc>
                <a:spcPct val="90000"/>
              </a:lnSpc>
              <a:spcBef>
                <a:spcPts val="0"/>
              </a:spcBef>
              <a:spcAft>
                <a:spcPts val="0"/>
              </a:spcAft>
              <a:buSzPct val="100000"/>
              <a:buNone/>
            </a:pPr>
            <a:r>
              <a:t/>
            </a:r>
            <a:endParaRPr b="1" u="sng"/>
          </a:p>
        </p:txBody>
      </p:sp>
      <p:sp>
        <p:nvSpPr>
          <p:cNvPr id="116" name="Google Shape;116;g360095ba283_0_27"/>
          <p:cNvSpPr txBox="1"/>
          <p:nvPr>
            <p:ph idx="1" type="body"/>
          </p:nvPr>
        </p:nvSpPr>
        <p:spPr>
          <a:xfrm>
            <a:off x="700950" y="1395575"/>
            <a:ext cx="7814400" cy="3129300"/>
          </a:xfrm>
          <a:prstGeom prst="rect">
            <a:avLst/>
          </a:prstGeom>
          <a:noFill/>
          <a:ln>
            <a:noFill/>
          </a:ln>
        </p:spPr>
        <p:txBody>
          <a:bodyPr anchorCtr="0" anchor="t" bIns="34275" lIns="68575" spcFirstLastPara="1" rIns="68575" wrap="square" tIns="34275">
            <a:noAutofit/>
          </a:bodyPr>
          <a:lstStyle/>
          <a:p>
            <a:pPr indent="-298450" lvl="0" marL="457200" rtl="0" algn="l">
              <a:lnSpc>
                <a:spcPct val="115000"/>
              </a:lnSpc>
              <a:spcBef>
                <a:spcPts val="1200"/>
              </a:spcBef>
              <a:spcAft>
                <a:spcPts val="0"/>
              </a:spcAft>
              <a:buClr>
                <a:srgbClr val="000000"/>
              </a:buClr>
              <a:buSzPts val="1100"/>
              <a:buChar char="●"/>
            </a:pPr>
            <a:r>
              <a:rPr lang="en" sz="1800">
                <a:solidFill>
                  <a:srgbClr val="FF0000"/>
                </a:solidFill>
              </a:rPr>
              <a:t>1 = ✅ True (Consumer Rights Act)</a:t>
            </a:r>
            <a:br>
              <a:rPr lang="en" sz="1800">
                <a:solidFill>
                  <a:srgbClr val="FF0000"/>
                </a:solidFill>
              </a:rPr>
            </a:br>
            <a:endParaRPr sz="1800">
              <a:solidFill>
                <a:srgbClr val="FF0000"/>
              </a:solidFill>
            </a:endParaRPr>
          </a:p>
          <a:p>
            <a:pPr indent="-298450" lvl="0" marL="457200" rtl="0" algn="l">
              <a:lnSpc>
                <a:spcPct val="115000"/>
              </a:lnSpc>
              <a:spcBef>
                <a:spcPts val="0"/>
              </a:spcBef>
              <a:spcAft>
                <a:spcPts val="0"/>
              </a:spcAft>
              <a:buClr>
                <a:srgbClr val="000000"/>
              </a:buClr>
              <a:buSzPts val="1100"/>
              <a:buChar char="●"/>
            </a:pPr>
            <a:r>
              <a:rPr lang="en" sz="1800">
                <a:solidFill>
                  <a:srgbClr val="FF0000"/>
                </a:solidFill>
              </a:rPr>
              <a:t>2 = ❌ False (Below minimum wage)</a:t>
            </a:r>
            <a:br>
              <a:rPr lang="en" sz="1800">
                <a:solidFill>
                  <a:srgbClr val="FF0000"/>
                </a:solidFill>
              </a:rPr>
            </a:br>
            <a:endParaRPr sz="1800">
              <a:solidFill>
                <a:srgbClr val="FF0000"/>
              </a:solidFill>
            </a:endParaRPr>
          </a:p>
          <a:p>
            <a:pPr indent="-298450" lvl="0" marL="457200" rtl="0" algn="l">
              <a:lnSpc>
                <a:spcPct val="115000"/>
              </a:lnSpc>
              <a:spcBef>
                <a:spcPts val="0"/>
              </a:spcBef>
              <a:spcAft>
                <a:spcPts val="0"/>
              </a:spcAft>
              <a:buClr>
                <a:srgbClr val="000000"/>
              </a:buClr>
              <a:buSzPts val="1100"/>
              <a:buChar char="●"/>
            </a:pPr>
            <a:r>
              <a:rPr lang="en" sz="1800">
                <a:solidFill>
                  <a:srgbClr val="FF0000"/>
                </a:solidFill>
              </a:rPr>
              <a:t>3 = ❌ False (Illegal – Equality Act)</a:t>
            </a:r>
            <a:br>
              <a:rPr lang="en" sz="1800">
                <a:solidFill>
                  <a:srgbClr val="FF0000"/>
                </a:solidFill>
              </a:rPr>
            </a:br>
            <a:endParaRPr sz="1800">
              <a:solidFill>
                <a:srgbClr val="FF0000"/>
              </a:solidFill>
            </a:endParaRPr>
          </a:p>
          <a:p>
            <a:pPr indent="-298450" lvl="0" marL="457200" rtl="0" algn="l">
              <a:lnSpc>
                <a:spcPct val="115000"/>
              </a:lnSpc>
              <a:spcBef>
                <a:spcPts val="0"/>
              </a:spcBef>
              <a:spcAft>
                <a:spcPts val="0"/>
              </a:spcAft>
              <a:buClr>
                <a:srgbClr val="000000"/>
              </a:buClr>
              <a:buSzPts val="1100"/>
              <a:buChar char="●"/>
            </a:pPr>
            <a:r>
              <a:rPr lang="en" sz="1800">
                <a:solidFill>
                  <a:srgbClr val="FF0000"/>
                </a:solidFill>
              </a:rPr>
              <a:t>4 = ✅ True (Health &amp; Safety at Work Act)</a:t>
            </a:r>
            <a:br>
              <a:rPr lang="en" sz="1800">
                <a:solidFill>
                  <a:srgbClr val="FF0000"/>
                </a:solidFill>
              </a:rPr>
            </a:br>
            <a:endParaRPr sz="1800">
              <a:solidFill>
                <a:srgbClr val="FF0000"/>
              </a:solidFill>
            </a:endParaRPr>
          </a:p>
          <a:p>
            <a:pPr indent="-298450" lvl="0" marL="457200" rtl="0" algn="l">
              <a:lnSpc>
                <a:spcPct val="115000"/>
              </a:lnSpc>
              <a:spcBef>
                <a:spcPts val="0"/>
              </a:spcBef>
              <a:spcAft>
                <a:spcPts val="0"/>
              </a:spcAft>
              <a:buClr>
                <a:srgbClr val="000000"/>
              </a:buClr>
              <a:buSzPts val="1100"/>
              <a:buChar char="●"/>
            </a:pPr>
            <a:r>
              <a:rPr lang="en" sz="1800">
                <a:solidFill>
                  <a:srgbClr val="FF0000"/>
                </a:solidFill>
              </a:rPr>
              <a:t>5 = ❌ False – depends on the item and if it’s faulty</a:t>
            </a:r>
            <a:br>
              <a:rPr lang="en" sz="1800">
                <a:solidFill>
                  <a:srgbClr val="FF0000"/>
                </a:solidFill>
              </a:rPr>
            </a:br>
            <a:endParaRPr sz="1800">
              <a:solidFill>
                <a:srgbClr val="FF0000"/>
              </a:solidFill>
            </a:endParaRPr>
          </a:p>
          <a:p>
            <a:pPr indent="0" lvl="0" marL="0" rtl="0" algn="l">
              <a:lnSpc>
                <a:spcPct val="90000"/>
              </a:lnSpc>
              <a:spcBef>
                <a:spcPts val="1200"/>
              </a:spcBef>
              <a:spcAft>
                <a:spcPts val="0"/>
              </a:spcAft>
              <a:buSzPts val="1400"/>
              <a:buNone/>
            </a:pPr>
            <a:r>
              <a:t/>
            </a:r>
            <a:endParaRPr sz="18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7"/>
          <p:cNvSpPr txBox="1"/>
          <p:nvPr>
            <p:ph type="title"/>
          </p:nvPr>
        </p:nvSpPr>
        <p:spPr>
          <a:xfrm>
            <a:off x="179850" y="191825"/>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accent3"/>
              </a:buClr>
              <a:buSzPts val="3300"/>
              <a:buFont typeface="Avenir"/>
              <a:buNone/>
            </a:pPr>
            <a:r>
              <a:rPr lang="en"/>
              <a:t>THE PURPOSE OF LEGISLATION</a:t>
            </a:r>
            <a:endParaRPr/>
          </a:p>
        </p:txBody>
      </p:sp>
      <p:sp>
        <p:nvSpPr>
          <p:cNvPr id="122" name="Google Shape;122;p27"/>
          <p:cNvSpPr txBox="1"/>
          <p:nvPr>
            <p:ph idx="1" type="body"/>
          </p:nvPr>
        </p:nvSpPr>
        <p:spPr>
          <a:xfrm>
            <a:off x="628650" y="1233998"/>
            <a:ext cx="7886700" cy="3838800"/>
          </a:xfrm>
          <a:prstGeom prst="rect">
            <a:avLst/>
          </a:prstGeom>
          <a:noFill/>
          <a:ln>
            <a:noFill/>
          </a:ln>
        </p:spPr>
        <p:txBody>
          <a:bodyPr anchorCtr="0" anchor="t" bIns="34275" lIns="68575" spcFirstLastPara="1" rIns="68575" wrap="square" tIns="34275">
            <a:normAutofit/>
          </a:bodyPr>
          <a:lstStyle/>
          <a:p>
            <a:pPr indent="-330200" lvl="0" marL="457200" rtl="0" algn="l">
              <a:lnSpc>
                <a:spcPct val="90000"/>
              </a:lnSpc>
              <a:spcBef>
                <a:spcPts val="800"/>
              </a:spcBef>
              <a:spcAft>
                <a:spcPts val="0"/>
              </a:spcAft>
              <a:buClr>
                <a:srgbClr val="FF0000"/>
              </a:buClr>
              <a:buSzPts val="1600"/>
              <a:buChar char="•"/>
            </a:pPr>
            <a:r>
              <a:rPr lang="en" sz="1600">
                <a:solidFill>
                  <a:srgbClr val="FF0000"/>
                </a:solidFill>
              </a:rPr>
              <a:t>The term legislation refers to the </a:t>
            </a:r>
            <a:r>
              <a:rPr b="1" lang="en" sz="1600" u="sng">
                <a:solidFill>
                  <a:srgbClr val="FF0000"/>
                </a:solidFill>
              </a:rPr>
              <a:t>laws</a:t>
            </a:r>
            <a:r>
              <a:rPr b="1" lang="en" sz="1600">
                <a:solidFill>
                  <a:srgbClr val="FF0000"/>
                </a:solidFill>
              </a:rPr>
              <a:t> </a:t>
            </a:r>
            <a:r>
              <a:rPr lang="en" sz="1600">
                <a:solidFill>
                  <a:srgbClr val="FF0000"/>
                </a:solidFill>
              </a:rPr>
              <a:t>of a country.</a:t>
            </a:r>
            <a:endParaRPr sz="1600">
              <a:solidFill>
                <a:srgbClr val="FF0000"/>
              </a:solidFill>
            </a:endParaRPr>
          </a:p>
          <a:p>
            <a:pPr indent="0" lvl="0" marL="0" rtl="0" algn="l">
              <a:lnSpc>
                <a:spcPct val="90000"/>
              </a:lnSpc>
              <a:spcBef>
                <a:spcPts val="800"/>
              </a:spcBef>
              <a:spcAft>
                <a:spcPts val="0"/>
              </a:spcAft>
              <a:buSzPts val="1400"/>
              <a:buNone/>
            </a:pPr>
            <a:r>
              <a:rPr b="1" lang="en" sz="1600">
                <a:solidFill>
                  <a:srgbClr val="434343"/>
                </a:solidFill>
                <a:highlight>
                  <a:srgbClr val="FFFFFF"/>
                </a:highlight>
              </a:rPr>
              <a:t>LAW: </a:t>
            </a:r>
            <a:r>
              <a:rPr lang="en" sz="1600">
                <a:solidFill>
                  <a:srgbClr val="434343"/>
                </a:solidFill>
                <a:highlight>
                  <a:srgbClr val="FFFFFF"/>
                </a:highlight>
              </a:rPr>
              <a:t>A rule made by a government that states how people may and may not behave in society and in business, and that often orders particular punishments if they do not obey, or a system of such rules.</a:t>
            </a:r>
            <a:endParaRPr sz="1600">
              <a:solidFill>
                <a:srgbClr val="434343"/>
              </a:solidFill>
            </a:endParaRPr>
          </a:p>
          <a:p>
            <a:pPr indent="-330200" lvl="0" marL="457200" rtl="0" algn="l">
              <a:lnSpc>
                <a:spcPct val="90000"/>
              </a:lnSpc>
              <a:spcBef>
                <a:spcPts val="800"/>
              </a:spcBef>
              <a:spcAft>
                <a:spcPts val="0"/>
              </a:spcAft>
              <a:buClr>
                <a:srgbClr val="434343"/>
              </a:buClr>
              <a:buSzPts val="1600"/>
              <a:buFont typeface="Avenir"/>
              <a:buChar char="•"/>
            </a:pPr>
            <a:r>
              <a:rPr lang="en" sz="1600">
                <a:solidFill>
                  <a:srgbClr val="434343"/>
                </a:solidFill>
              </a:rPr>
              <a:t>In the business world, legislation is used to regulate the actions of businesses and prevent them from exploiting people. </a:t>
            </a:r>
            <a:endParaRPr sz="1600">
              <a:solidFill>
                <a:srgbClr val="434343"/>
              </a:solidFill>
            </a:endParaRPr>
          </a:p>
          <a:p>
            <a:pPr indent="-330200" lvl="0" marL="457200" rtl="0" algn="l">
              <a:lnSpc>
                <a:spcPct val="90000"/>
              </a:lnSpc>
              <a:spcBef>
                <a:spcPts val="800"/>
              </a:spcBef>
              <a:spcAft>
                <a:spcPts val="0"/>
              </a:spcAft>
              <a:buClr>
                <a:srgbClr val="434343"/>
              </a:buClr>
              <a:buSzPts val="1600"/>
              <a:buFont typeface="Avenir"/>
              <a:buChar char="•"/>
            </a:pPr>
            <a:r>
              <a:rPr lang="en" sz="1600">
                <a:solidFill>
                  <a:srgbClr val="434343"/>
                </a:solidFill>
              </a:rPr>
              <a:t>No matter how big or small a business is, it must abide by the legislation of the country that it operates within. </a:t>
            </a:r>
            <a:endParaRPr sz="1600">
              <a:solidFill>
                <a:srgbClr val="434343"/>
              </a:solidFill>
            </a:endParaRPr>
          </a:p>
          <a:p>
            <a:pPr indent="-228600" lvl="0" marL="457200" rtl="0" algn="l">
              <a:lnSpc>
                <a:spcPct val="90000"/>
              </a:lnSpc>
              <a:spcBef>
                <a:spcPts val="800"/>
              </a:spcBef>
              <a:spcAft>
                <a:spcPts val="0"/>
              </a:spcAft>
              <a:buClr>
                <a:srgbClr val="57595A"/>
              </a:buClr>
              <a:buSzPts val="1400"/>
              <a:buNone/>
            </a:pPr>
            <a:r>
              <a:t/>
            </a:r>
            <a:endParaRPr sz="1600">
              <a:solidFill>
                <a:srgbClr val="434343"/>
              </a:solidFill>
            </a:endParaRPr>
          </a:p>
          <a:p>
            <a:pPr indent="-228600" lvl="0" marL="457200" rtl="0" algn="l">
              <a:lnSpc>
                <a:spcPct val="90000"/>
              </a:lnSpc>
              <a:spcBef>
                <a:spcPts val="800"/>
              </a:spcBef>
              <a:spcAft>
                <a:spcPts val="0"/>
              </a:spcAft>
              <a:buClr>
                <a:srgbClr val="57595A"/>
              </a:buClr>
              <a:buSzPts val="1400"/>
              <a:buNone/>
            </a:pPr>
            <a:r>
              <a:t/>
            </a:r>
            <a:endParaRPr sz="1600">
              <a:solidFill>
                <a:srgbClr val="434343"/>
              </a:solidFill>
            </a:endParaRPr>
          </a:p>
          <a:p>
            <a:pPr indent="0" lvl="0" marL="0" rtl="0" algn="l">
              <a:lnSpc>
                <a:spcPct val="90000"/>
              </a:lnSpc>
              <a:spcBef>
                <a:spcPts val="800"/>
              </a:spcBef>
              <a:spcAft>
                <a:spcPts val="0"/>
              </a:spcAft>
              <a:buSzPts val="1400"/>
              <a:buNone/>
            </a:pPr>
            <a:r>
              <a:t/>
            </a:r>
            <a:endParaRPr sz="1600">
              <a:solidFill>
                <a:srgbClr val="43434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Effect filter="fade" transition="in">
                                      <p:cBhvr>
                                        <p:cTn dur="500"/>
                                        <p:tgtEl>
                                          <p:spTgt spid="1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Effect filter="fade" transition="in">
                                      <p:cBhvr>
                                        <p:cTn dur="500"/>
                                        <p:tgtEl>
                                          <p:spTgt spid="1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Effect filter="fade" transition="in">
                                      <p:cBhvr>
                                        <p:cTn dur="500"/>
                                        <p:tgtEl>
                                          <p:spTgt spid="1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Effect filter="fade" transition="in">
                                      <p:cBhvr>
                                        <p:cTn dur="500"/>
                                        <p:tgtEl>
                                          <p:spTgt spid="1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animEffect filter="fade" transition="in">
                                      <p:cBhvr>
                                        <p:cTn dur="500"/>
                                        <p:tgtEl>
                                          <p:spTgt spid="1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animEffect filter="fade" transition="in">
                                      <p:cBhvr>
                                        <p:cTn dur="500"/>
                                        <p:tgtEl>
                                          <p:spTgt spid="1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animEffect filter="fade" transition="in">
                                      <p:cBhvr>
                                        <p:cTn dur="500"/>
                                        <p:tgtEl>
                                          <p:spTgt spid="12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60095ba283_0_47"/>
          <p:cNvSpPr txBox="1"/>
          <p:nvPr>
            <p:ph type="title"/>
          </p:nvPr>
        </p:nvSpPr>
        <p:spPr>
          <a:xfrm>
            <a:off x="179825" y="95925"/>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accent3"/>
              </a:buClr>
              <a:buSzPts val="3300"/>
              <a:buFont typeface="Avenir"/>
              <a:buNone/>
            </a:pPr>
            <a:r>
              <a:rPr lang="en"/>
              <a:t>THE PURPOSE OF LEGISLATION</a:t>
            </a:r>
            <a:endParaRPr/>
          </a:p>
        </p:txBody>
      </p:sp>
      <p:sp>
        <p:nvSpPr>
          <p:cNvPr id="128" name="Google Shape;128;g360095ba283_0_47"/>
          <p:cNvSpPr txBox="1"/>
          <p:nvPr>
            <p:ph idx="1" type="body"/>
          </p:nvPr>
        </p:nvSpPr>
        <p:spPr>
          <a:xfrm>
            <a:off x="628650" y="793898"/>
            <a:ext cx="7886700" cy="3838800"/>
          </a:xfrm>
          <a:prstGeom prst="rect">
            <a:avLst/>
          </a:prstGeom>
          <a:noFill/>
          <a:ln>
            <a:noFill/>
          </a:ln>
        </p:spPr>
        <p:txBody>
          <a:bodyPr anchorCtr="0" anchor="t" bIns="34275" lIns="68575" spcFirstLastPara="1" rIns="68575" wrap="square" tIns="34275">
            <a:normAutofit/>
          </a:bodyPr>
          <a:lstStyle/>
          <a:p>
            <a:pPr indent="0" lvl="0" marL="457200" rtl="0" algn="l">
              <a:lnSpc>
                <a:spcPct val="90000"/>
              </a:lnSpc>
              <a:spcBef>
                <a:spcPts val="800"/>
              </a:spcBef>
              <a:spcAft>
                <a:spcPts val="0"/>
              </a:spcAft>
              <a:buSzPts val="1400"/>
              <a:buNone/>
            </a:pPr>
            <a:r>
              <a:t/>
            </a:r>
            <a:endParaRPr/>
          </a:p>
          <a:p>
            <a:pPr indent="-317500" lvl="0" marL="457200" rtl="0" algn="l">
              <a:lnSpc>
                <a:spcPct val="90000"/>
              </a:lnSpc>
              <a:spcBef>
                <a:spcPts val="800"/>
              </a:spcBef>
              <a:spcAft>
                <a:spcPts val="0"/>
              </a:spcAft>
              <a:buClr>
                <a:srgbClr val="57595A"/>
              </a:buClr>
              <a:buSzPts val="1400"/>
              <a:buChar char="•"/>
            </a:pPr>
            <a:r>
              <a:rPr lang="en" sz="1350"/>
              <a:t>In the UK, there are two key areas of legislation set by the government which are designed to protect the rights of consumers and the rights of employees and employers.</a:t>
            </a:r>
            <a:endParaRPr/>
          </a:p>
          <a:p>
            <a:pPr indent="-317500" lvl="0" marL="457200" rtl="0" algn="l">
              <a:lnSpc>
                <a:spcPct val="90000"/>
              </a:lnSpc>
              <a:spcBef>
                <a:spcPts val="800"/>
              </a:spcBef>
              <a:spcAft>
                <a:spcPts val="0"/>
              </a:spcAft>
              <a:buClr>
                <a:srgbClr val="57595A"/>
              </a:buClr>
              <a:buSzPts val="1400"/>
              <a:buChar char="•"/>
            </a:pPr>
            <a:r>
              <a:rPr lang="en" sz="1350"/>
              <a:t>These two key areas of legislation are known as:</a:t>
            </a:r>
            <a:endParaRPr/>
          </a:p>
          <a:p>
            <a:pPr indent="-228600" lvl="0" marL="457200" rtl="0" algn="l">
              <a:lnSpc>
                <a:spcPct val="90000"/>
              </a:lnSpc>
              <a:spcBef>
                <a:spcPts val="800"/>
              </a:spcBef>
              <a:spcAft>
                <a:spcPts val="0"/>
              </a:spcAft>
              <a:buClr>
                <a:srgbClr val="57595A"/>
              </a:buClr>
              <a:buSzPts val="1400"/>
              <a:buNone/>
            </a:pPr>
            <a:r>
              <a:t/>
            </a:r>
            <a:endParaRPr sz="1350"/>
          </a:p>
          <a:p>
            <a:pPr indent="-228600" lvl="0" marL="457200" rtl="0" algn="l">
              <a:lnSpc>
                <a:spcPct val="90000"/>
              </a:lnSpc>
              <a:spcBef>
                <a:spcPts val="800"/>
              </a:spcBef>
              <a:spcAft>
                <a:spcPts val="0"/>
              </a:spcAft>
              <a:buClr>
                <a:srgbClr val="57595A"/>
              </a:buClr>
              <a:buSzPts val="1400"/>
              <a:buNone/>
            </a:pPr>
            <a:r>
              <a:t/>
            </a:r>
            <a:endParaRPr sz="1350"/>
          </a:p>
          <a:p>
            <a:pPr indent="0" lvl="0" marL="0" rtl="0" algn="l">
              <a:lnSpc>
                <a:spcPct val="90000"/>
              </a:lnSpc>
              <a:spcBef>
                <a:spcPts val="800"/>
              </a:spcBef>
              <a:spcAft>
                <a:spcPts val="0"/>
              </a:spcAft>
              <a:buSzPts val="1400"/>
              <a:buNone/>
            </a:pPr>
            <a:r>
              <a:t/>
            </a:r>
            <a:endParaRPr sz="1350"/>
          </a:p>
        </p:txBody>
      </p:sp>
      <p:grpSp>
        <p:nvGrpSpPr>
          <p:cNvPr id="129" name="Google Shape;129;g360095ba283_0_47"/>
          <p:cNvGrpSpPr/>
          <p:nvPr/>
        </p:nvGrpSpPr>
        <p:grpSpPr>
          <a:xfrm>
            <a:off x="1407854" y="2925216"/>
            <a:ext cx="6871194" cy="1570200"/>
            <a:chOff x="289" y="18983"/>
            <a:chExt cx="6871194" cy="1570200"/>
          </a:xfrm>
        </p:grpSpPr>
        <p:sp>
          <p:nvSpPr>
            <p:cNvPr id="130" name="Google Shape;130;g360095ba283_0_47"/>
            <p:cNvSpPr/>
            <p:nvPr/>
          </p:nvSpPr>
          <p:spPr>
            <a:xfrm>
              <a:off x="289" y="18983"/>
              <a:ext cx="3304800" cy="15702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360095ba283_0_47"/>
            <p:cNvSpPr txBox="1"/>
            <p:nvPr/>
          </p:nvSpPr>
          <p:spPr>
            <a:xfrm>
              <a:off x="289" y="18983"/>
              <a:ext cx="3304800" cy="1570200"/>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 sz="3300" u="none" cap="none" strike="noStrike">
                  <a:solidFill>
                    <a:schemeClr val="lt1"/>
                  </a:solidFill>
                  <a:latin typeface="Arial"/>
                  <a:ea typeface="Arial"/>
                  <a:cs typeface="Arial"/>
                  <a:sym typeface="Arial"/>
                </a:rPr>
                <a:t>Principles of consumer law</a:t>
              </a:r>
              <a:endParaRPr b="0" i="0" sz="1400" u="none" cap="none" strike="noStrike">
                <a:solidFill>
                  <a:srgbClr val="000000"/>
                </a:solidFill>
                <a:latin typeface="Arial"/>
                <a:ea typeface="Arial"/>
                <a:cs typeface="Arial"/>
                <a:sym typeface="Arial"/>
              </a:endParaRPr>
            </a:p>
          </p:txBody>
        </p:sp>
        <p:sp>
          <p:nvSpPr>
            <p:cNvPr id="132" name="Google Shape;132;g360095ba283_0_47"/>
            <p:cNvSpPr/>
            <p:nvPr/>
          </p:nvSpPr>
          <p:spPr>
            <a:xfrm>
              <a:off x="3566683" y="18983"/>
              <a:ext cx="3304800" cy="1570200"/>
            </a:xfrm>
            <a:prstGeom prst="rect">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60095ba283_0_47"/>
            <p:cNvSpPr txBox="1"/>
            <p:nvPr/>
          </p:nvSpPr>
          <p:spPr>
            <a:xfrm>
              <a:off x="3566683" y="18983"/>
              <a:ext cx="3304800" cy="1570200"/>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 sz="3300" u="none" cap="none" strike="noStrike">
                  <a:solidFill>
                    <a:schemeClr val="lt1"/>
                  </a:solidFill>
                  <a:latin typeface="Arial"/>
                  <a:ea typeface="Arial"/>
                  <a:cs typeface="Arial"/>
                  <a:sym typeface="Arial"/>
                </a:rPr>
                <a:t>Principles of employment law</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animEffect filter="fade" transition="in">
                                      <p:cBhvr>
                                        <p:cTn dur="500"/>
                                        <p:tgtEl>
                                          <p:spTgt spid="1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animEffect filter="fade" transition="in">
                                      <p:cBhvr>
                                        <p:cTn dur="500"/>
                                        <p:tgtEl>
                                          <p:spTgt spid="1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animEffect filter="fade" transition="in">
                                      <p:cBhvr>
                                        <p:cTn dur="500"/>
                                        <p:tgtEl>
                                          <p:spTgt spid="1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animEffect filter="fade" transition="in">
                                      <p:cBhvr>
                                        <p:cTn dur="500"/>
                                        <p:tgtEl>
                                          <p:spTgt spid="1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animEffect filter="fade" transition="in">
                                      <p:cBhvr>
                                        <p:cTn dur="500"/>
                                        <p:tgtEl>
                                          <p:spTgt spid="1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animEffect filter="fade" transition="in">
                                      <p:cBhvr>
                                        <p:cTn dur="500"/>
                                        <p:tgtEl>
                                          <p:spTgt spid="12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8"/>
          <p:cNvSpPr txBox="1"/>
          <p:nvPr>
            <p:ph type="title"/>
          </p:nvPr>
        </p:nvSpPr>
        <p:spPr>
          <a:xfrm>
            <a:off x="330950" y="0"/>
            <a:ext cx="75558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accent3"/>
              </a:buClr>
              <a:buSzPts val="3300"/>
              <a:buFont typeface="Avenir"/>
              <a:buNone/>
            </a:pPr>
            <a:r>
              <a:rPr lang="en"/>
              <a:t>PRINCIPLES OF CONSUMER LAW</a:t>
            </a:r>
            <a:endParaRPr/>
          </a:p>
        </p:txBody>
      </p:sp>
      <p:sp>
        <p:nvSpPr>
          <p:cNvPr id="139" name="Google Shape;139;p28"/>
          <p:cNvSpPr txBox="1"/>
          <p:nvPr>
            <p:ph idx="1" type="body"/>
          </p:nvPr>
        </p:nvSpPr>
        <p:spPr>
          <a:xfrm>
            <a:off x="330939" y="827513"/>
            <a:ext cx="8409024" cy="129191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rgbClr val="57595A"/>
              </a:buClr>
              <a:buSzPts val="1400"/>
              <a:buChar char="•"/>
            </a:pPr>
            <a:r>
              <a:rPr lang="en" sz="1800"/>
              <a:t>Consumer law relates to any piece of government legislation which relates to the quality of products or services and the rights of consumers.</a:t>
            </a:r>
            <a:endParaRPr/>
          </a:p>
          <a:p>
            <a:pPr indent="-317500" lvl="0" marL="457200" rtl="0" algn="l">
              <a:lnSpc>
                <a:spcPct val="90000"/>
              </a:lnSpc>
              <a:spcBef>
                <a:spcPts val="800"/>
              </a:spcBef>
              <a:spcAft>
                <a:spcPts val="0"/>
              </a:spcAft>
              <a:buClr>
                <a:srgbClr val="57595A"/>
              </a:buClr>
              <a:buSzPts val="1400"/>
              <a:buChar char="•"/>
            </a:pPr>
            <a:r>
              <a:rPr lang="en" sz="1800"/>
              <a:t>In the UK there are two consumer laws which businesses must adhere to, these are: </a:t>
            </a:r>
            <a:endParaRPr/>
          </a:p>
          <a:p>
            <a:pPr indent="-228600" lvl="0" marL="457200" rtl="0" algn="l">
              <a:lnSpc>
                <a:spcPct val="90000"/>
              </a:lnSpc>
              <a:spcBef>
                <a:spcPts val="800"/>
              </a:spcBef>
              <a:spcAft>
                <a:spcPts val="0"/>
              </a:spcAft>
              <a:buClr>
                <a:srgbClr val="57595A"/>
              </a:buClr>
              <a:buSzPts val="1400"/>
              <a:buNone/>
            </a:pPr>
            <a:r>
              <a:t/>
            </a:r>
            <a:endParaRPr sz="1350"/>
          </a:p>
        </p:txBody>
      </p:sp>
      <p:grpSp>
        <p:nvGrpSpPr>
          <p:cNvPr id="140" name="Google Shape;140;p28"/>
          <p:cNvGrpSpPr/>
          <p:nvPr/>
        </p:nvGrpSpPr>
        <p:grpSpPr>
          <a:xfrm>
            <a:off x="1521680" y="2145192"/>
            <a:ext cx="5459700" cy="1559914"/>
            <a:chOff x="666" y="236027"/>
            <a:chExt cx="5459700" cy="1559914"/>
          </a:xfrm>
        </p:grpSpPr>
        <p:sp>
          <p:nvSpPr>
            <p:cNvPr id="141" name="Google Shape;141;p28"/>
            <p:cNvSpPr/>
            <p:nvPr/>
          </p:nvSpPr>
          <p:spPr>
            <a:xfrm>
              <a:off x="666" y="236027"/>
              <a:ext cx="2599857" cy="1559914"/>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8"/>
            <p:cNvSpPr txBox="1"/>
            <p:nvPr/>
          </p:nvSpPr>
          <p:spPr>
            <a:xfrm>
              <a:off x="666" y="236027"/>
              <a:ext cx="2599857" cy="1559914"/>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 sz="3300" u="none" cap="none" strike="noStrike">
                  <a:solidFill>
                    <a:schemeClr val="lt1"/>
                  </a:solidFill>
                  <a:latin typeface="Arial"/>
                  <a:ea typeface="Arial"/>
                  <a:cs typeface="Arial"/>
                  <a:sym typeface="Arial"/>
                </a:rPr>
                <a:t>Consumer Rights Act (2015)</a:t>
              </a:r>
              <a:endParaRPr b="0" i="0" sz="3300" u="none" cap="none" strike="noStrike">
                <a:solidFill>
                  <a:schemeClr val="lt1"/>
                </a:solidFill>
                <a:latin typeface="Arial"/>
                <a:ea typeface="Arial"/>
                <a:cs typeface="Arial"/>
                <a:sym typeface="Arial"/>
              </a:endParaRPr>
            </a:p>
          </p:txBody>
        </p:sp>
        <p:sp>
          <p:nvSpPr>
            <p:cNvPr id="143" name="Google Shape;143;p28"/>
            <p:cNvSpPr/>
            <p:nvPr/>
          </p:nvSpPr>
          <p:spPr>
            <a:xfrm>
              <a:off x="2860509" y="236027"/>
              <a:ext cx="2599857" cy="1559914"/>
            </a:xfrm>
            <a:prstGeom prst="rect">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8"/>
            <p:cNvSpPr txBox="1"/>
            <p:nvPr/>
          </p:nvSpPr>
          <p:spPr>
            <a:xfrm>
              <a:off x="2860509" y="236027"/>
              <a:ext cx="2599857" cy="1559914"/>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 sz="3300" u="none" cap="none" strike="noStrike">
                  <a:solidFill>
                    <a:schemeClr val="lt1"/>
                  </a:solidFill>
                  <a:latin typeface="Arial"/>
                  <a:ea typeface="Arial"/>
                  <a:cs typeface="Arial"/>
                  <a:sym typeface="Arial"/>
                </a:rPr>
                <a:t>Consumer Protection Act (1987)</a:t>
              </a:r>
              <a:endParaRPr b="0" i="0" sz="33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500"/>
                                        <p:tgtEl>
                                          <p:spTgt spid="1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500"/>
                                        <p:tgtEl>
                                          <p:spTgt spid="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Effect filter="fade" transition="in">
                                      <p:cBhvr>
                                        <p:cTn dur="500"/>
                                        <p:tgtEl>
                                          <p:spTgt spid="13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60095ba283_0_64"/>
          <p:cNvSpPr txBox="1"/>
          <p:nvPr>
            <p:ph type="title"/>
          </p:nvPr>
        </p:nvSpPr>
        <p:spPr>
          <a:xfrm>
            <a:off x="111425"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Legislation in Business- Why Rules Matter</a:t>
            </a:r>
            <a:endParaRPr/>
          </a:p>
        </p:txBody>
      </p:sp>
      <p:sp>
        <p:nvSpPr>
          <p:cNvPr id="150" name="Google Shape;150;g360095ba283_0_6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0"/>
              </a:spcBef>
              <a:spcAft>
                <a:spcPts val="0"/>
              </a:spcAft>
              <a:buSzPts val="1400"/>
              <a:buNone/>
            </a:pPr>
            <a:r>
              <a:rPr lang="en" sz="1600">
                <a:solidFill>
                  <a:srgbClr val="000000"/>
                </a:solidFill>
              </a:rPr>
              <a:t>Today, you'll become business law detectives! Let's find out how laws protect consumers and workers. </a:t>
            </a:r>
            <a:r>
              <a:rPr lang="en" sz="1600">
                <a:solidFill>
                  <a:srgbClr val="FF0000"/>
                </a:solidFill>
              </a:rPr>
              <a:t>Sue the business or let it go? Justify your answer</a:t>
            </a:r>
            <a:endParaRPr sz="1600">
              <a:solidFill>
                <a:srgbClr val="FF0000"/>
              </a:solidFill>
            </a:endParaRPr>
          </a:p>
          <a:p>
            <a:pPr indent="0" lvl="0" marL="0" rtl="0" algn="l">
              <a:lnSpc>
                <a:spcPct val="115000"/>
              </a:lnSpc>
              <a:spcBef>
                <a:spcPts val="0"/>
              </a:spcBef>
              <a:spcAft>
                <a:spcPts val="0"/>
              </a:spcAft>
              <a:buSzPts val="1400"/>
              <a:buNone/>
            </a:pPr>
            <a:r>
              <a:t/>
            </a:r>
            <a:endParaRPr sz="1600">
              <a:solidFill>
                <a:srgbClr val="000000"/>
              </a:solidFill>
            </a:endParaRPr>
          </a:p>
          <a:p>
            <a:pPr indent="0" lvl="0" marL="0" rtl="0" algn="l">
              <a:lnSpc>
                <a:spcPct val="115000"/>
              </a:lnSpc>
              <a:spcBef>
                <a:spcPts val="0"/>
              </a:spcBef>
              <a:spcAft>
                <a:spcPts val="0"/>
              </a:spcAft>
              <a:buSzPts val="1400"/>
              <a:buNone/>
            </a:pPr>
            <a:r>
              <a:rPr lang="en" sz="1600">
                <a:solidFill>
                  <a:srgbClr val="000000"/>
                </a:solidFill>
              </a:rPr>
              <a:t>1.</a:t>
            </a:r>
            <a:r>
              <a:rPr b="1" lang="en" sz="1600">
                <a:solidFill>
                  <a:srgbClr val="58595A"/>
                </a:solidFill>
              </a:rPr>
              <a:t>You buy a new phone that stops working after 3 days.</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It won’t turn on, and the store refuses to replace it. </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2. You buy a “scratch-proof” phone case. It gets scratched the first day.</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3. You’re injured by a broken chair at a café. The manager says it’s “not their fault.”</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4. You buy a second-hand game console that turns out to be faulty.</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The shop says “No refunds for second-hand goods.”</a:t>
            </a:r>
            <a:endParaRPr b="1" sz="1600">
              <a:solidFill>
                <a:srgbClr val="58595A"/>
              </a:solidFill>
            </a:endParaRPr>
          </a:p>
          <a:p>
            <a:pPr indent="0" lvl="0" marL="0" rtl="0" algn="l">
              <a:lnSpc>
                <a:spcPct val="115000"/>
              </a:lnSpc>
              <a:spcBef>
                <a:spcPts val="0"/>
              </a:spcBef>
              <a:spcAft>
                <a:spcPts val="0"/>
              </a:spcAft>
              <a:buSzPts val="1400"/>
              <a:buNone/>
            </a:pPr>
            <a:r>
              <a:rPr b="1" lang="en" sz="1600">
                <a:solidFill>
                  <a:srgbClr val="58595A"/>
                </a:solidFill>
              </a:rPr>
              <a:t>5. A cleaning product claims it removes red wine stains but actually makes them worse.</a:t>
            </a:r>
            <a:endParaRPr sz="1600"/>
          </a:p>
        </p:txBody>
      </p:sp>
      <p:pic>
        <p:nvPicPr>
          <p:cNvPr id="151" name="Google Shape;151;g360095ba283_0_64"/>
          <p:cNvPicPr preferRelativeResize="0"/>
          <p:nvPr/>
        </p:nvPicPr>
        <p:blipFill rotWithShape="1">
          <a:blip r:embed="rId3">
            <a:alphaModFix/>
          </a:blip>
          <a:srcRect b="0" l="0" r="0" t="0"/>
          <a:stretch/>
        </p:blipFill>
        <p:spPr>
          <a:xfrm>
            <a:off x="8291075" y="103175"/>
            <a:ext cx="682850" cy="1164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0" y="13781"/>
            <a:ext cx="91440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accent3"/>
              </a:buClr>
              <a:buSzPts val="3300"/>
              <a:buFont typeface="Avenir"/>
              <a:buNone/>
            </a:pPr>
            <a:r>
              <a:rPr lang="en" sz="2600"/>
              <a:t>PRINCIPLES OF CONSUMER LAW: CONSUMER RIGHTS ACT (2015)</a:t>
            </a:r>
            <a:endParaRPr/>
          </a:p>
        </p:txBody>
      </p:sp>
      <p:sp>
        <p:nvSpPr>
          <p:cNvPr id="158" name="Google Shape;158;p29"/>
          <p:cNvSpPr txBox="1"/>
          <p:nvPr>
            <p:ph idx="1" type="body"/>
          </p:nvPr>
        </p:nvSpPr>
        <p:spPr>
          <a:xfrm>
            <a:off x="196258" y="795061"/>
            <a:ext cx="8713825" cy="3263400"/>
          </a:xfrm>
          <a:prstGeom prst="rect">
            <a:avLst/>
          </a:prstGeom>
          <a:noFill/>
          <a:ln>
            <a:noFill/>
          </a:ln>
        </p:spPr>
        <p:txBody>
          <a:bodyPr anchorCtr="0" anchor="t" bIns="34275" lIns="68575" spcFirstLastPara="1" rIns="68575" wrap="square" tIns="34275">
            <a:noAutofit/>
          </a:bodyPr>
          <a:lstStyle/>
          <a:p>
            <a:pPr indent="-317500" lvl="0" marL="457200" rtl="0" algn="l">
              <a:lnSpc>
                <a:spcPct val="90000"/>
              </a:lnSpc>
              <a:spcBef>
                <a:spcPts val="800"/>
              </a:spcBef>
              <a:spcAft>
                <a:spcPts val="0"/>
              </a:spcAft>
              <a:buSzPts val="1400"/>
              <a:buChar char="•"/>
            </a:pPr>
            <a:r>
              <a:rPr lang="en" sz="1500">
                <a:solidFill>
                  <a:srgbClr val="231F20"/>
                </a:solidFill>
              </a:rPr>
              <a:t>The Consumer Rights Act (2015) is designed to protect consumers from unfair and dishonest business practices by providing them with</a:t>
            </a:r>
            <a:r>
              <a:rPr i="1" lang="en" sz="1500">
                <a:solidFill>
                  <a:srgbClr val="0B0C0C"/>
                </a:solidFill>
              </a:rPr>
              <a:t> </a:t>
            </a:r>
            <a:r>
              <a:rPr i="1" lang="en" sz="1500">
                <a:solidFill>
                  <a:srgbClr val="FF0000"/>
                </a:solidFill>
              </a:rPr>
              <a:t>“transparent rights that will help them to make better choices when they buy, generating the opportunity for businesses to compete, innovate and grow…so businesses and consumers create an economy based on productive relationships and fairly won business reputations” </a:t>
            </a:r>
            <a:r>
              <a:rPr lang="en" sz="1500">
                <a:solidFill>
                  <a:srgbClr val="0B0C0C"/>
                </a:solidFill>
              </a:rPr>
              <a:t>(GOV, 2022).</a:t>
            </a:r>
            <a:endParaRPr sz="1500">
              <a:solidFill>
                <a:srgbClr val="231F20"/>
              </a:solidFill>
            </a:endParaRPr>
          </a:p>
          <a:p>
            <a:pPr indent="-317500" lvl="0" marL="457200" rtl="0" algn="l">
              <a:lnSpc>
                <a:spcPct val="90000"/>
              </a:lnSpc>
              <a:spcBef>
                <a:spcPts val="800"/>
              </a:spcBef>
              <a:spcAft>
                <a:spcPts val="0"/>
              </a:spcAft>
              <a:buClr>
                <a:srgbClr val="57595A"/>
              </a:buClr>
              <a:buSzPts val="1400"/>
              <a:buChar char="•"/>
            </a:pPr>
            <a:r>
              <a:rPr lang="en" sz="1500">
                <a:solidFill>
                  <a:srgbClr val="231F20"/>
                </a:solidFill>
              </a:rPr>
              <a:t>To ensure this is achieved, the Consumer Rights Act (2015) </a:t>
            </a:r>
            <a:r>
              <a:rPr lang="en" sz="1500">
                <a:solidFill>
                  <a:srgbClr val="161616"/>
                </a:solidFill>
              </a:rPr>
              <a:t>covers the key areas of a business transaction, which include:</a:t>
            </a:r>
            <a:endParaRPr sz="1500"/>
          </a:p>
        </p:txBody>
      </p:sp>
      <p:grpSp>
        <p:nvGrpSpPr>
          <p:cNvPr id="159" name="Google Shape;159;p29"/>
          <p:cNvGrpSpPr/>
          <p:nvPr/>
        </p:nvGrpSpPr>
        <p:grpSpPr>
          <a:xfrm>
            <a:off x="1143134" y="2918627"/>
            <a:ext cx="6503312" cy="907438"/>
            <a:chOff x="1906" y="451874"/>
            <a:chExt cx="6503312" cy="907438"/>
          </a:xfrm>
        </p:grpSpPr>
        <p:sp>
          <p:nvSpPr>
            <p:cNvPr id="160" name="Google Shape;160;p29"/>
            <p:cNvSpPr/>
            <p:nvPr/>
          </p:nvSpPr>
          <p:spPr>
            <a:xfrm>
              <a:off x="1906" y="451874"/>
              <a:ext cx="1512398" cy="907438"/>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9"/>
            <p:cNvSpPr txBox="1"/>
            <p:nvPr/>
          </p:nvSpPr>
          <p:spPr>
            <a:xfrm>
              <a:off x="1906" y="451874"/>
              <a:ext cx="1512398" cy="907438"/>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The product or service</a:t>
              </a:r>
              <a:endParaRPr b="0" i="0" sz="1900" u="none" cap="none" strike="noStrike">
                <a:solidFill>
                  <a:schemeClr val="lt1"/>
                </a:solidFill>
                <a:latin typeface="Arial"/>
                <a:ea typeface="Arial"/>
                <a:cs typeface="Arial"/>
                <a:sym typeface="Arial"/>
              </a:endParaRPr>
            </a:p>
          </p:txBody>
        </p:sp>
        <p:sp>
          <p:nvSpPr>
            <p:cNvPr id="162" name="Google Shape;162;p29"/>
            <p:cNvSpPr/>
            <p:nvPr/>
          </p:nvSpPr>
          <p:spPr>
            <a:xfrm>
              <a:off x="1665544" y="451874"/>
              <a:ext cx="1512398" cy="907438"/>
            </a:xfrm>
            <a:prstGeom prst="rect">
              <a:avLst/>
            </a:prstGeom>
            <a:solidFill>
              <a:srgbClr val="50C9B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9"/>
            <p:cNvSpPr txBox="1"/>
            <p:nvPr/>
          </p:nvSpPr>
          <p:spPr>
            <a:xfrm>
              <a:off x="1665544" y="451874"/>
              <a:ext cx="1512398" cy="907438"/>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Returns</a:t>
              </a:r>
              <a:endParaRPr b="0" i="0" sz="1900" u="none" cap="none" strike="noStrike">
                <a:solidFill>
                  <a:schemeClr val="lt1"/>
                </a:solidFill>
                <a:latin typeface="Arial"/>
                <a:ea typeface="Arial"/>
                <a:cs typeface="Arial"/>
                <a:sym typeface="Arial"/>
              </a:endParaRPr>
            </a:p>
          </p:txBody>
        </p:sp>
        <p:sp>
          <p:nvSpPr>
            <p:cNvPr id="164" name="Google Shape;164;p29"/>
            <p:cNvSpPr/>
            <p:nvPr/>
          </p:nvSpPr>
          <p:spPr>
            <a:xfrm>
              <a:off x="3329182" y="451874"/>
              <a:ext cx="1512398" cy="907438"/>
            </a:xfrm>
            <a:prstGeom prst="rect">
              <a:avLst/>
            </a:prstGeom>
            <a:solidFill>
              <a:srgbClr val="48BD6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9"/>
            <p:cNvSpPr txBox="1"/>
            <p:nvPr/>
          </p:nvSpPr>
          <p:spPr>
            <a:xfrm>
              <a:off x="3329182" y="451874"/>
              <a:ext cx="1512398" cy="907438"/>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Repairs and replacement</a:t>
              </a:r>
              <a:endParaRPr b="0" i="0" sz="1900" u="none" cap="none" strike="noStrike">
                <a:solidFill>
                  <a:schemeClr val="lt1"/>
                </a:solidFill>
                <a:latin typeface="Arial"/>
                <a:ea typeface="Arial"/>
                <a:cs typeface="Arial"/>
                <a:sym typeface="Arial"/>
              </a:endParaRPr>
            </a:p>
          </p:txBody>
        </p:sp>
        <p:sp>
          <p:nvSpPr>
            <p:cNvPr id="166" name="Google Shape;166;p29"/>
            <p:cNvSpPr/>
            <p:nvPr/>
          </p:nvSpPr>
          <p:spPr>
            <a:xfrm>
              <a:off x="4992820" y="451874"/>
              <a:ext cx="1512398" cy="907438"/>
            </a:xfrm>
            <a:prstGeom prst="rect">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9"/>
            <p:cNvSpPr txBox="1"/>
            <p:nvPr/>
          </p:nvSpPr>
          <p:spPr>
            <a:xfrm>
              <a:off x="4992820" y="451874"/>
              <a:ext cx="1512398" cy="907438"/>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Delivery</a:t>
              </a:r>
              <a:endParaRPr b="0" i="0" sz="1900" u="none" cap="none" strike="noStrike">
                <a:solidFill>
                  <a:schemeClr val="lt1"/>
                </a:solidFill>
                <a:latin typeface="Arial"/>
                <a:ea typeface="Arial"/>
                <a:cs typeface="Arial"/>
                <a:sym typeface="Arial"/>
              </a:endParaRPr>
            </a:p>
          </p:txBody>
        </p:sp>
      </p:grpSp>
      <p:sp>
        <p:nvSpPr>
          <p:cNvPr id="168" name="Google Shape;168;p29"/>
          <p:cNvSpPr txBox="1"/>
          <p:nvPr/>
        </p:nvSpPr>
        <p:spPr>
          <a:xfrm>
            <a:off x="8047350" y="3000650"/>
            <a:ext cx="940800" cy="7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Avenir"/>
                <a:ea typeface="Avenir"/>
                <a:cs typeface="Avenir"/>
                <a:sym typeface="Avenir"/>
              </a:rPr>
              <a:t>Put this on a mind map</a:t>
            </a:r>
            <a:endParaRPr b="0" i="0" sz="1200" u="none" cap="none" strike="noStrike">
              <a:solidFill>
                <a:srgbClr val="FF0000"/>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275750" y="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2"/>
              </a:buClr>
              <a:buSzPts val="3300"/>
              <a:buFont typeface="Avenir"/>
              <a:buNone/>
            </a:pPr>
            <a:r>
              <a:rPr lang="en"/>
              <a:t>Activity: Facts about Consumer Law</a:t>
            </a:r>
            <a:endParaRPr/>
          </a:p>
        </p:txBody>
      </p:sp>
      <p:pic>
        <p:nvPicPr>
          <p:cNvPr id="175" name="Google Shape;175;p32"/>
          <p:cNvPicPr preferRelativeResize="0"/>
          <p:nvPr>
            <p:ph idx="4294967295" type="body"/>
          </p:nvPr>
        </p:nvPicPr>
        <p:blipFill rotWithShape="1">
          <a:blip r:embed="rId3">
            <a:alphaModFix/>
          </a:blip>
          <a:srcRect b="0" l="0" r="0" t="0"/>
          <a:stretch/>
        </p:blipFill>
        <p:spPr>
          <a:xfrm>
            <a:off x="3576406" y="1431687"/>
            <a:ext cx="5229300" cy="2954400"/>
          </a:xfrm>
          <a:prstGeom prst="rect">
            <a:avLst/>
          </a:prstGeom>
          <a:noFill/>
          <a:ln>
            <a:noFill/>
          </a:ln>
        </p:spPr>
      </p:pic>
      <p:sp>
        <p:nvSpPr>
          <p:cNvPr id="176" name="Google Shape;176;p32"/>
          <p:cNvSpPr txBox="1"/>
          <p:nvPr/>
        </p:nvSpPr>
        <p:spPr>
          <a:xfrm>
            <a:off x="1050987" y="994203"/>
            <a:ext cx="59151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000000"/>
                </a:solidFill>
                <a:latin typeface="Arial"/>
                <a:ea typeface="Arial"/>
                <a:cs typeface="Arial"/>
                <a:sym typeface="Arial"/>
              </a:rPr>
              <a:t>Watch the video about consumer law and answer the multiple choice questions in your book:</a:t>
            </a:r>
            <a:endParaRPr b="0" i="0" sz="1050" u="none" cap="none" strike="noStrike">
              <a:solidFill>
                <a:srgbClr val="000000"/>
              </a:solidFill>
              <a:latin typeface="Arial"/>
              <a:ea typeface="Arial"/>
              <a:cs typeface="Arial"/>
              <a:sym typeface="Arial"/>
            </a:endParaRPr>
          </a:p>
        </p:txBody>
      </p:sp>
      <p:pic>
        <p:nvPicPr>
          <p:cNvPr id="177" name="Google Shape;177;p32"/>
          <p:cNvPicPr preferRelativeResize="0"/>
          <p:nvPr/>
        </p:nvPicPr>
        <p:blipFill rotWithShape="1">
          <a:blip r:embed="rId4">
            <a:alphaModFix/>
          </a:blip>
          <a:srcRect b="0" l="0" r="0" t="0"/>
          <a:stretch/>
        </p:blipFill>
        <p:spPr>
          <a:xfrm>
            <a:off x="152400" y="1654503"/>
            <a:ext cx="3271607" cy="24280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c2d0279d42_0_302"/>
          <p:cNvSpPr txBox="1"/>
          <p:nvPr>
            <p:ph type="title"/>
          </p:nvPr>
        </p:nvSpPr>
        <p:spPr>
          <a:xfrm>
            <a:off x="666975" y="1997919"/>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KEY SUMMARY OF THE CONSUMER RIGHTS ACT 2015</a:t>
            </a:r>
            <a:endParaRPr/>
          </a:p>
        </p:txBody>
      </p:sp>
      <p:sp>
        <p:nvSpPr>
          <p:cNvPr id="183" name="Google Shape;183;g3c2d0279d42_0_30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c2d0279d42_0_307"/>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2"/>
              </a:buClr>
              <a:buSzPts val="3300"/>
              <a:buFont typeface="Avenir"/>
              <a:buNone/>
            </a:pPr>
            <a:r>
              <a:rPr lang="en"/>
              <a:t>Principles of Consumer Law</a:t>
            </a:r>
            <a:endParaRPr/>
          </a:p>
        </p:txBody>
      </p:sp>
      <p:sp>
        <p:nvSpPr>
          <p:cNvPr id="189" name="Google Shape;189;g3c2d0279d42_0_307"/>
          <p:cNvSpPr txBox="1"/>
          <p:nvPr>
            <p:ph idx="1" type="body"/>
          </p:nvPr>
        </p:nvSpPr>
        <p:spPr>
          <a:xfrm>
            <a:off x="758119" y="1369219"/>
            <a:ext cx="7757400" cy="3050400"/>
          </a:xfrm>
          <a:prstGeom prst="rect">
            <a:avLst/>
          </a:prstGeom>
          <a:noFill/>
          <a:ln>
            <a:noFill/>
          </a:ln>
        </p:spPr>
        <p:txBody>
          <a:bodyPr anchorCtr="0" anchor="t" bIns="34275" lIns="68575" spcFirstLastPara="1" rIns="68575" wrap="square" tIns="34275">
            <a:normAutofit lnSpcReduction="20000"/>
          </a:bodyPr>
          <a:lstStyle/>
          <a:p>
            <a:pPr indent="-38100" lvl="0" marL="177800" rtl="0" algn="l">
              <a:lnSpc>
                <a:spcPct val="90000"/>
              </a:lnSpc>
              <a:spcBef>
                <a:spcPts val="0"/>
              </a:spcBef>
              <a:spcAft>
                <a:spcPts val="0"/>
              </a:spcAft>
              <a:buClr>
                <a:srgbClr val="57595A"/>
              </a:buClr>
              <a:buSzPts val="2100"/>
              <a:buNone/>
            </a:pPr>
            <a:r>
              <a:rPr b="1" lang="en"/>
              <a:t>As contained in the Consumer Rights Act of 2015: </a:t>
            </a:r>
            <a:endParaRPr b="1"/>
          </a:p>
          <a:p>
            <a:pPr indent="-38100" lvl="0" marL="177800" rtl="0" algn="l">
              <a:lnSpc>
                <a:spcPct val="90000"/>
              </a:lnSpc>
              <a:spcBef>
                <a:spcPts val="0"/>
              </a:spcBef>
              <a:spcAft>
                <a:spcPts val="0"/>
              </a:spcAft>
              <a:buClr>
                <a:srgbClr val="57595A"/>
              </a:buClr>
              <a:buSzPts val="2100"/>
              <a:buNone/>
            </a:pPr>
            <a:r>
              <a:t/>
            </a:r>
            <a:endParaRPr b="1"/>
          </a:p>
          <a:p>
            <a:pPr indent="-38100" lvl="0" marL="177800" rtl="0" algn="l">
              <a:lnSpc>
                <a:spcPct val="90000"/>
              </a:lnSpc>
              <a:spcBef>
                <a:spcPts val="0"/>
              </a:spcBef>
              <a:spcAft>
                <a:spcPts val="0"/>
              </a:spcAft>
              <a:buClr>
                <a:srgbClr val="57595A"/>
              </a:buClr>
              <a:buSzPts val="2100"/>
              <a:buNone/>
            </a:pPr>
            <a:r>
              <a:rPr b="1" lang="en"/>
              <a:t>Goods must be: </a:t>
            </a:r>
            <a:endParaRPr b="1"/>
          </a:p>
          <a:p>
            <a:pPr indent="-38100" lvl="0" marL="177800" rtl="0" algn="l">
              <a:lnSpc>
                <a:spcPct val="90000"/>
              </a:lnSpc>
              <a:spcBef>
                <a:spcPts val="0"/>
              </a:spcBef>
              <a:spcAft>
                <a:spcPts val="0"/>
              </a:spcAft>
              <a:buClr>
                <a:srgbClr val="57595A"/>
              </a:buClr>
              <a:buSzPts val="2100"/>
              <a:buNone/>
            </a:pPr>
            <a:r>
              <a:t/>
            </a:r>
            <a:endParaRPr/>
          </a:p>
          <a:p>
            <a:pPr indent="-38100" lvl="0" marL="177800" rtl="0" algn="l">
              <a:lnSpc>
                <a:spcPct val="90000"/>
              </a:lnSpc>
              <a:spcBef>
                <a:spcPts val="0"/>
              </a:spcBef>
              <a:spcAft>
                <a:spcPts val="0"/>
              </a:spcAft>
              <a:buClr>
                <a:srgbClr val="57595A"/>
              </a:buClr>
              <a:buSzPts val="2100"/>
              <a:buNone/>
            </a:pPr>
            <a:r>
              <a:rPr lang="en"/>
              <a:t>Described accurately – businesses should not describe goods and services in a misleading way.</a:t>
            </a:r>
            <a:endParaRPr/>
          </a:p>
          <a:p>
            <a:pPr indent="-38100" lvl="0" marL="177800" rtl="0" algn="l">
              <a:lnSpc>
                <a:spcPct val="90000"/>
              </a:lnSpc>
              <a:spcBef>
                <a:spcPts val="0"/>
              </a:spcBef>
              <a:spcAft>
                <a:spcPts val="0"/>
              </a:spcAft>
              <a:buClr>
                <a:srgbClr val="57595A"/>
              </a:buClr>
              <a:buSzPts val="2100"/>
              <a:buNone/>
            </a:pPr>
            <a:r>
              <a:t/>
            </a:r>
            <a:endParaRPr/>
          </a:p>
          <a:p>
            <a:pPr indent="-38100" lvl="0" marL="177800" rtl="0" algn="l">
              <a:lnSpc>
                <a:spcPct val="90000"/>
              </a:lnSpc>
              <a:spcBef>
                <a:spcPts val="0"/>
              </a:spcBef>
              <a:spcAft>
                <a:spcPts val="0"/>
              </a:spcAft>
              <a:buClr>
                <a:srgbClr val="57595A"/>
              </a:buClr>
              <a:buSzPts val="2100"/>
              <a:buNone/>
            </a:pPr>
            <a:r>
              <a:rPr lang="en"/>
              <a:t>Fit for purpose – goods must do what they are designed to do.</a:t>
            </a:r>
            <a:endParaRPr/>
          </a:p>
          <a:p>
            <a:pPr indent="-38100" lvl="0" marL="177800" rtl="0" algn="l">
              <a:lnSpc>
                <a:spcPct val="90000"/>
              </a:lnSpc>
              <a:spcBef>
                <a:spcPts val="0"/>
              </a:spcBef>
              <a:spcAft>
                <a:spcPts val="0"/>
              </a:spcAft>
              <a:buClr>
                <a:srgbClr val="57595A"/>
              </a:buClr>
              <a:buSzPts val="2100"/>
              <a:buNone/>
            </a:pPr>
            <a:r>
              <a:t/>
            </a:r>
            <a:endParaRPr/>
          </a:p>
          <a:p>
            <a:pPr indent="-38100" lvl="0" marL="177800" rtl="0" algn="l">
              <a:lnSpc>
                <a:spcPct val="90000"/>
              </a:lnSpc>
              <a:spcBef>
                <a:spcPts val="0"/>
              </a:spcBef>
              <a:spcAft>
                <a:spcPts val="0"/>
              </a:spcAft>
              <a:buClr>
                <a:srgbClr val="57595A"/>
              </a:buClr>
              <a:buSzPts val="2100"/>
              <a:buNone/>
            </a:pPr>
            <a:r>
              <a:rPr lang="en"/>
              <a:t>Satisfactory quality – goods should not be damaged or faulty when sold as new.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c2d0279d42_0_312"/>
          <p:cNvSpPr txBox="1"/>
          <p:nvPr>
            <p:ph idx="1" type="body"/>
          </p:nvPr>
        </p:nvSpPr>
        <p:spPr>
          <a:xfrm>
            <a:off x="628650" y="945825"/>
            <a:ext cx="7886700" cy="3687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lang="en"/>
              <a:t>Services should be;</a:t>
            </a:r>
            <a:r>
              <a:rPr lang="en"/>
              <a:t> </a:t>
            </a:r>
            <a:endParaRPr/>
          </a:p>
          <a:p>
            <a:pPr indent="0" lvl="0" marL="0" rtl="0" algn="l">
              <a:lnSpc>
                <a:spcPct val="90000"/>
              </a:lnSpc>
              <a:spcBef>
                <a:spcPts val="800"/>
              </a:spcBef>
              <a:spcAft>
                <a:spcPts val="0"/>
              </a:spcAft>
              <a:buSzPts val="1400"/>
              <a:buNone/>
            </a:pPr>
            <a:r>
              <a:rPr lang="en"/>
              <a:t>Supplied under minimum standards, which include:</a:t>
            </a:r>
            <a:endParaRPr/>
          </a:p>
          <a:p>
            <a:pPr indent="-254000" lvl="0" marL="342900" rtl="0" algn="l">
              <a:lnSpc>
                <a:spcPct val="90000"/>
              </a:lnSpc>
              <a:spcBef>
                <a:spcPts val="800"/>
              </a:spcBef>
              <a:spcAft>
                <a:spcPts val="0"/>
              </a:spcAft>
              <a:buSzPts val="1400"/>
              <a:buChar char="•"/>
            </a:pPr>
            <a:r>
              <a:rPr lang="en"/>
              <a:t>The service provider must use reasonable care and skill in delivering the service</a:t>
            </a:r>
            <a:endParaRPr/>
          </a:p>
          <a:p>
            <a:pPr indent="-254000" lvl="0" marL="342900" rtl="0" algn="l">
              <a:lnSpc>
                <a:spcPct val="90000"/>
              </a:lnSpc>
              <a:spcBef>
                <a:spcPts val="0"/>
              </a:spcBef>
              <a:spcAft>
                <a:spcPts val="0"/>
              </a:spcAft>
              <a:buSzPts val="1400"/>
              <a:buChar char="•"/>
            </a:pPr>
            <a:r>
              <a:rPr lang="en"/>
              <a:t>Any written or verbal information provided by the supplier is binding</a:t>
            </a:r>
            <a:endParaRPr/>
          </a:p>
          <a:p>
            <a:pPr indent="-254000" lvl="0" marL="342900" rtl="0" algn="l">
              <a:lnSpc>
                <a:spcPct val="90000"/>
              </a:lnSpc>
              <a:spcBef>
                <a:spcPts val="0"/>
              </a:spcBef>
              <a:spcAft>
                <a:spcPts val="0"/>
              </a:spcAft>
              <a:buSzPts val="1400"/>
              <a:buChar char="•"/>
            </a:pPr>
            <a:r>
              <a:rPr lang="en"/>
              <a:t>The service must be provided in a reasonable time, unless agreed otherwise</a:t>
            </a:r>
            <a:endParaRPr/>
          </a:p>
          <a:p>
            <a:pPr indent="-254000" lvl="0" marL="342900" rtl="0" algn="l">
              <a:lnSpc>
                <a:spcPct val="90000"/>
              </a:lnSpc>
              <a:spcBef>
                <a:spcPts val="0"/>
              </a:spcBef>
              <a:spcAft>
                <a:spcPts val="0"/>
              </a:spcAft>
              <a:buSzPts val="1400"/>
              <a:buChar char="•"/>
            </a:pPr>
            <a:r>
              <a:rPr lang="en"/>
              <a:t>The service must be provided for a reasonable price, if the price is not agreed beforehand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c2d0279d42_0_316"/>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Digital Content</a:t>
            </a:r>
            <a:endParaRPr/>
          </a:p>
        </p:txBody>
      </p:sp>
      <p:sp>
        <p:nvSpPr>
          <p:cNvPr id="200" name="Google Shape;200;g3c2d0279d42_0_316"/>
          <p:cNvSpPr txBox="1"/>
          <p:nvPr>
            <p:ph idx="1" type="body"/>
          </p:nvPr>
        </p:nvSpPr>
        <p:spPr>
          <a:xfrm>
            <a:off x="471488" y="1026914"/>
            <a:ext cx="5915100" cy="24477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800"/>
              </a:spcBef>
              <a:spcAft>
                <a:spcPts val="0"/>
              </a:spcAft>
              <a:buSzPts val="1400"/>
              <a:buNone/>
            </a:pPr>
            <a:r>
              <a:rPr lang="en"/>
              <a:t>The requirements for </a:t>
            </a:r>
            <a:r>
              <a:rPr b="1" lang="en"/>
              <a:t>goods </a:t>
            </a:r>
            <a:r>
              <a:rPr lang="en"/>
              <a:t>also apply to </a:t>
            </a:r>
            <a:r>
              <a:rPr b="1" lang="en"/>
              <a:t>digital content.</a:t>
            </a:r>
            <a:endParaRPr b="1"/>
          </a:p>
          <a:p>
            <a:pPr indent="0" lvl="0" marL="0" rtl="0" algn="l">
              <a:lnSpc>
                <a:spcPct val="90000"/>
              </a:lnSpc>
              <a:spcBef>
                <a:spcPts val="800"/>
              </a:spcBef>
              <a:spcAft>
                <a:spcPts val="0"/>
              </a:spcAft>
              <a:buSzPts val="1400"/>
              <a:buNone/>
            </a:pPr>
            <a:r>
              <a:t/>
            </a:r>
            <a:endParaRPr b="1"/>
          </a:p>
          <a:p>
            <a:pPr indent="0" lvl="0" marL="0" rtl="0" algn="l">
              <a:lnSpc>
                <a:spcPct val="90000"/>
              </a:lnSpc>
              <a:spcBef>
                <a:spcPts val="800"/>
              </a:spcBef>
              <a:spcAft>
                <a:spcPts val="0"/>
              </a:spcAft>
              <a:buSzPts val="1400"/>
              <a:buNone/>
            </a:pPr>
            <a:r>
              <a:rPr lang="en"/>
              <a:t>Corrupted Digital Content</a:t>
            </a:r>
            <a:endParaRPr/>
          </a:p>
          <a:p>
            <a:pPr indent="0" lvl="0" marL="0" rtl="0" algn="l">
              <a:lnSpc>
                <a:spcPct val="90000"/>
              </a:lnSpc>
              <a:spcBef>
                <a:spcPts val="800"/>
              </a:spcBef>
              <a:spcAft>
                <a:spcPts val="0"/>
              </a:spcAft>
              <a:buSzPts val="1400"/>
              <a:buNone/>
            </a:pPr>
            <a:r>
              <a:rPr lang="en"/>
              <a:t>Consumers are entitled to a repair or replacement if the digital content is faulty and even compensation if other downloads or devices are affected.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c2d0279d42_0_321"/>
          <p:cNvSpPr txBox="1"/>
          <p:nvPr>
            <p:ph type="title"/>
          </p:nvPr>
        </p:nvSpPr>
        <p:spPr>
          <a:xfrm>
            <a:off x="628650" y="1577544"/>
            <a:ext cx="7886700" cy="9942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Clr>
                <a:schemeClr val="accent3"/>
              </a:buClr>
              <a:buSzPct val="122222"/>
              <a:buFont typeface="Avenir"/>
              <a:buNone/>
            </a:pPr>
            <a:r>
              <a:rPr lang="en" sz="2700"/>
              <a:t>PRINCIPLES OF CONSUMER LAW: CONSUMER PROTECTION ACT (1987)</a:t>
            </a:r>
            <a:endParaRPr/>
          </a:p>
          <a:p>
            <a:pPr indent="0" lvl="0" marL="0" rtl="0" algn="l">
              <a:spcBef>
                <a:spcPts val="0"/>
              </a:spcBef>
              <a:spcAft>
                <a:spcPts val="0"/>
              </a:spcAft>
              <a:buNone/>
            </a:pPr>
            <a:r>
              <a:t/>
            </a:r>
            <a:endParaRPr/>
          </a:p>
        </p:txBody>
      </p:sp>
      <p:pic>
        <p:nvPicPr>
          <p:cNvPr id="206" name="Google Shape;206;g3c2d0279d42_0_321"/>
          <p:cNvPicPr preferRelativeResize="0"/>
          <p:nvPr/>
        </p:nvPicPr>
        <p:blipFill>
          <a:blip r:embed="rId3">
            <a:alphaModFix/>
          </a:blip>
          <a:stretch>
            <a:fillRect/>
          </a:stretch>
        </p:blipFill>
        <p:spPr>
          <a:xfrm>
            <a:off x="5229525" y="2403369"/>
            <a:ext cx="2857500" cy="1600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236550" y="273850"/>
            <a:ext cx="8458200" cy="994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accent3"/>
              </a:buClr>
              <a:buSzPts val="3300"/>
              <a:buFont typeface="Avenir"/>
              <a:buNone/>
            </a:pPr>
            <a:r>
              <a:rPr lang="en" sz="2700"/>
              <a:t>PRINCIPLES OF CONSUMER LAW: CONSUMER PROTECTION ACT (1987)</a:t>
            </a:r>
            <a:endParaRPr/>
          </a:p>
        </p:txBody>
      </p:sp>
      <p:sp>
        <p:nvSpPr>
          <p:cNvPr id="213" name="Google Shape;213;p30"/>
          <p:cNvSpPr txBox="1"/>
          <p:nvPr>
            <p:ph idx="1" type="body"/>
          </p:nvPr>
        </p:nvSpPr>
        <p:spPr>
          <a:xfrm>
            <a:off x="236550" y="1417199"/>
            <a:ext cx="8066100" cy="2784000"/>
          </a:xfrm>
          <a:prstGeom prst="rect">
            <a:avLst/>
          </a:prstGeom>
          <a:noFill/>
          <a:ln>
            <a:noFill/>
          </a:ln>
        </p:spPr>
        <p:txBody>
          <a:bodyPr anchorCtr="0" anchor="t" bIns="34275" lIns="68575" spcFirstLastPara="1" rIns="68575" wrap="square" tIns="34275">
            <a:normAutofit/>
          </a:bodyPr>
          <a:lstStyle/>
          <a:p>
            <a:pPr indent="-317541" lvl="0" marL="457200" rtl="0" algn="l">
              <a:lnSpc>
                <a:spcPct val="90000"/>
              </a:lnSpc>
              <a:spcBef>
                <a:spcPts val="800"/>
              </a:spcBef>
              <a:spcAft>
                <a:spcPts val="0"/>
              </a:spcAft>
              <a:buClr>
                <a:srgbClr val="57595A"/>
              </a:buClr>
              <a:buSzPts val="1400"/>
              <a:buChar char="•"/>
            </a:pPr>
            <a:r>
              <a:rPr lang="en"/>
              <a:t>The Consumer Protection Act (1987) gives consumers the ”</a:t>
            </a:r>
            <a:r>
              <a:rPr i="1" lang="en">
                <a:solidFill>
                  <a:srgbClr val="FF0000"/>
                </a:solidFill>
              </a:rPr>
              <a:t>right to claim compensation against the producer of a defective product if it has caused damage, death or personal injury</a:t>
            </a:r>
            <a:r>
              <a:rPr i="1" lang="en"/>
              <a:t>”</a:t>
            </a:r>
            <a:r>
              <a:rPr lang="en"/>
              <a:t> (Which, 2022).</a:t>
            </a:r>
            <a:endParaRPr/>
          </a:p>
          <a:p>
            <a:pPr indent="0" lvl="0" marL="457200" rtl="0" algn="l">
              <a:lnSpc>
                <a:spcPct val="90000"/>
              </a:lnSpc>
              <a:spcBef>
                <a:spcPts val="800"/>
              </a:spcBef>
              <a:spcAft>
                <a:spcPts val="0"/>
              </a:spcAft>
              <a:buNone/>
            </a:pPr>
            <a:r>
              <a:t/>
            </a:r>
            <a:endParaRPr/>
          </a:p>
        </p:txBody>
      </p:sp>
      <p:pic>
        <p:nvPicPr>
          <p:cNvPr id="214" name="Google Shape;214;p30"/>
          <p:cNvPicPr preferRelativeResize="0"/>
          <p:nvPr/>
        </p:nvPicPr>
        <p:blipFill rotWithShape="1">
          <a:blip r:embed="rId3">
            <a:alphaModFix/>
          </a:blip>
          <a:srcRect b="0" l="0" r="0" t="0"/>
          <a:stretch/>
        </p:blipFill>
        <p:spPr>
          <a:xfrm>
            <a:off x="8118650" y="217525"/>
            <a:ext cx="704775" cy="79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500"/>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500"/>
                                        <p:tgtEl>
                                          <p:spTgt spid="21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c2d0279d42_0_327"/>
          <p:cNvSpPr txBox="1"/>
          <p:nvPr>
            <p:ph type="title"/>
          </p:nvPr>
        </p:nvSpPr>
        <p:spPr>
          <a:xfrm>
            <a:off x="236550" y="273850"/>
            <a:ext cx="8458200" cy="994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accent3"/>
              </a:buClr>
              <a:buSzPts val="3300"/>
              <a:buFont typeface="Avenir"/>
              <a:buNone/>
            </a:pPr>
            <a:r>
              <a:rPr lang="en" sz="2700"/>
              <a:t>PRINCIPLES OF CONSUMER LAW: CONSUMER PROTECTION ACT (1987)</a:t>
            </a:r>
            <a:endParaRPr/>
          </a:p>
        </p:txBody>
      </p:sp>
      <p:sp>
        <p:nvSpPr>
          <p:cNvPr id="221" name="Google Shape;221;g3c2d0279d42_0_327"/>
          <p:cNvSpPr txBox="1"/>
          <p:nvPr>
            <p:ph idx="1" type="body"/>
          </p:nvPr>
        </p:nvSpPr>
        <p:spPr>
          <a:xfrm>
            <a:off x="236550" y="1417199"/>
            <a:ext cx="8066100" cy="27840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800"/>
              </a:spcBef>
              <a:spcAft>
                <a:spcPts val="0"/>
              </a:spcAft>
              <a:buNone/>
            </a:pPr>
            <a:r>
              <a:t/>
            </a:r>
            <a:endParaRPr/>
          </a:p>
          <a:p>
            <a:pPr indent="-317541" lvl="0" marL="457200" rtl="0" algn="l">
              <a:lnSpc>
                <a:spcPct val="90000"/>
              </a:lnSpc>
              <a:spcBef>
                <a:spcPts val="800"/>
              </a:spcBef>
              <a:spcAft>
                <a:spcPts val="0"/>
              </a:spcAft>
              <a:buClr>
                <a:srgbClr val="57595A"/>
              </a:buClr>
              <a:buSzPts val="1400"/>
              <a:buChar char="•"/>
            </a:pPr>
            <a:r>
              <a:rPr lang="en"/>
              <a:t>If a product does become defective, the producer of the defective product is automatically liable for any damage caused to consumers under the Consumer Protection Act (1987).</a:t>
            </a:r>
            <a:endParaRPr/>
          </a:p>
          <a:p>
            <a:pPr indent="-317541" lvl="0" marL="457200" rtl="0" algn="l">
              <a:lnSpc>
                <a:spcPct val="90000"/>
              </a:lnSpc>
              <a:spcBef>
                <a:spcPts val="800"/>
              </a:spcBef>
              <a:spcAft>
                <a:spcPts val="0"/>
              </a:spcAft>
              <a:buClr>
                <a:srgbClr val="57595A"/>
              </a:buClr>
              <a:buSzPts val="1400"/>
              <a:buChar char="•"/>
            </a:pPr>
            <a:r>
              <a:rPr lang="en"/>
              <a:t>Meaning the act helps to raise standards and due care in the production process to ensure products are of the highest quality and the risk of any defects and damage to consumers is reduced. </a:t>
            </a:r>
            <a:endParaRPr/>
          </a:p>
        </p:txBody>
      </p:sp>
      <p:pic>
        <p:nvPicPr>
          <p:cNvPr id="222" name="Google Shape;222;g3c2d0279d42_0_327"/>
          <p:cNvPicPr preferRelativeResize="0"/>
          <p:nvPr/>
        </p:nvPicPr>
        <p:blipFill rotWithShape="1">
          <a:blip r:embed="rId3">
            <a:alphaModFix/>
          </a:blip>
          <a:srcRect b="0" l="0" r="0" t="0"/>
          <a:stretch/>
        </p:blipFill>
        <p:spPr>
          <a:xfrm>
            <a:off x="8118650" y="217525"/>
            <a:ext cx="704775" cy="79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5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5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500"/>
                                        <p:tgtEl>
                                          <p:spTgt spid="22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2"/>
              </a:buClr>
              <a:buSzPts val="3300"/>
              <a:buFont typeface="Avenir"/>
              <a:buNone/>
            </a:pPr>
            <a:r>
              <a:rPr lang="en"/>
              <a:t>Activity: Consumer Law Scenarios</a:t>
            </a:r>
            <a:endParaRPr/>
          </a:p>
        </p:txBody>
      </p:sp>
      <p:sp>
        <p:nvSpPr>
          <p:cNvPr id="228" name="Google Shape;228;p31"/>
          <p:cNvSpPr txBox="1"/>
          <p:nvPr>
            <p:ph idx="1" type="body"/>
          </p:nvPr>
        </p:nvSpPr>
        <p:spPr>
          <a:xfrm>
            <a:off x="628650" y="1162794"/>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lang="en" sz="1350"/>
              <a:t>Read the four scenarios below and state what the consumer’s rights are and how the business should deal with each issue in your book.</a:t>
            </a:r>
            <a:endParaRPr/>
          </a:p>
          <a:p>
            <a:pPr indent="0" lvl="0" marL="0" rtl="0" algn="l">
              <a:lnSpc>
                <a:spcPct val="90000"/>
              </a:lnSpc>
              <a:spcBef>
                <a:spcPts val="800"/>
              </a:spcBef>
              <a:spcAft>
                <a:spcPts val="0"/>
              </a:spcAft>
              <a:buSzPts val="1400"/>
              <a:buNone/>
            </a:pPr>
            <a:r>
              <a:t/>
            </a:r>
            <a:endParaRPr sz="1350"/>
          </a:p>
          <a:p>
            <a:pPr indent="-257175" lvl="0" marL="257175" rtl="0" algn="l">
              <a:lnSpc>
                <a:spcPct val="90000"/>
              </a:lnSpc>
              <a:spcBef>
                <a:spcPts val="800"/>
              </a:spcBef>
              <a:spcAft>
                <a:spcPts val="0"/>
              </a:spcAft>
              <a:buSzPts val="1400"/>
              <a:buFont typeface="Arial"/>
              <a:buAutoNum type="arabicPeriod"/>
            </a:pPr>
            <a:r>
              <a:rPr lang="en" sz="1350"/>
              <a:t>You buy an iPhone but find after 2 days, that it won’t turn on and it won’t charge up. The iPhone is not of satisfactory quality. </a:t>
            </a:r>
            <a:endParaRPr/>
          </a:p>
          <a:p>
            <a:pPr indent="-257175" lvl="0" marL="257175" rtl="0" algn="l">
              <a:lnSpc>
                <a:spcPct val="90000"/>
              </a:lnSpc>
              <a:spcBef>
                <a:spcPts val="800"/>
              </a:spcBef>
              <a:spcAft>
                <a:spcPts val="0"/>
              </a:spcAft>
              <a:buSzPts val="1400"/>
              <a:buFont typeface="Arial"/>
              <a:buAutoNum type="arabicPeriod"/>
            </a:pPr>
            <a:r>
              <a:rPr lang="en" sz="1350"/>
              <a:t>You buy a product that tells you it can remove stains from car upholstery. You try it when you get it home but all it does is make the stain larger. The product does not work as it should and is not fit for purpose.</a:t>
            </a:r>
            <a:endParaRPr/>
          </a:p>
          <a:p>
            <a:pPr indent="-257175" lvl="0" marL="257175" rtl="0" algn="l">
              <a:lnSpc>
                <a:spcPct val="90000"/>
              </a:lnSpc>
              <a:spcBef>
                <a:spcPts val="800"/>
              </a:spcBef>
              <a:spcAft>
                <a:spcPts val="0"/>
              </a:spcAft>
              <a:buSzPts val="1400"/>
              <a:buFont typeface="Arial"/>
              <a:buAutoNum type="arabicPeriod"/>
            </a:pPr>
            <a:r>
              <a:rPr lang="en" sz="1350"/>
              <a:t>You bought a second-hand product and when you open the box it is broken and not by any fault of your own, but just because the item was faulty. You take the item to the store, but they say it cannot be returned or refunded because it is a second hand good.</a:t>
            </a:r>
            <a:endParaRPr/>
          </a:p>
          <a:p>
            <a:pPr indent="-257175" lvl="0" marL="257175" rtl="0" algn="l">
              <a:lnSpc>
                <a:spcPct val="90000"/>
              </a:lnSpc>
              <a:spcBef>
                <a:spcPts val="800"/>
              </a:spcBef>
              <a:spcAft>
                <a:spcPts val="0"/>
              </a:spcAft>
              <a:buSzPts val="1400"/>
              <a:buFont typeface="Arial"/>
              <a:buAutoNum type="arabicPeriod"/>
            </a:pPr>
            <a:r>
              <a:rPr lang="en" sz="1350"/>
              <a:t>You find a shirt that fits you perfectly. You purchase it and wear it to a business meeting. In under 28 days you decide that you don’t like the look of the shirt anymore so decide to take it back for a refund, you have only worn it once. </a:t>
            </a:r>
            <a:endParaRPr sz="1350"/>
          </a:p>
        </p:txBody>
      </p:sp>
      <p:pic>
        <p:nvPicPr>
          <p:cNvPr id="229" name="Google Shape;229;p31"/>
          <p:cNvPicPr preferRelativeResize="0"/>
          <p:nvPr/>
        </p:nvPicPr>
        <p:blipFill rotWithShape="1">
          <a:blip r:embed="rId3">
            <a:alphaModFix/>
          </a:blip>
          <a:srcRect b="0" l="0" r="0" t="0"/>
          <a:stretch/>
        </p:blipFill>
        <p:spPr>
          <a:xfrm>
            <a:off x="8337125" y="104447"/>
            <a:ext cx="620425" cy="1058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sp>
        <p:nvSpPr>
          <p:cNvPr id="234" name="Google Shape;234;g360095ba283_0_6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Activity</a:t>
            </a:r>
            <a:endParaRPr/>
          </a:p>
        </p:txBody>
      </p:sp>
      <p:sp>
        <p:nvSpPr>
          <p:cNvPr id="235" name="Google Shape;235;g360095ba283_0_69"/>
          <p:cNvSpPr txBox="1"/>
          <p:nvPr>
            <p:ph idx="1" type="body"/>
          </p:nvPr>
        </p:nvSpPr>
        <p:spPr>
          <a:xfrm>
            <a:off x="904400" y="108146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b="1" lang="en" sz="1200">
                <a:solidFill>
                  <a:srgbClr val="000000"/>
                </a:solidFill>
              </a:rPr>
              <a:t>You’ve been hired by Trading Standards UK to design an eye-catching poster that teaches people their consumer rights.</a:t>
            </a:r>
            <a:endParaRPr b="1" sz="1200">
              <a:solidFill>
                <a:srgbClr val="000000"/>
              </a:solidFill>
            </a:endParaRPr>
          </a:p>
          <a:p>
            <a:pPr indent="0" lvl="0" marL="0" rtl="0" algn="l">
              <a:lnSpc>
                <a:spcPct val="90000"/>
              </a:lnSpc>
              <a:spcBef>
                <a:spcPts val="800"/>
              </a:spcBef>
              <a:spcAft>
                <a:spcPts val="0"/>
              </a:spcAft>
              <a:buSzPts val="1400"/>
              <a:buNone/>
            </a:pPr>
            <a:r>
              <a:rPr lang="en" sz="1200">
                <a:solidFill>
                  <a:srgbClr val="000000"/>
                </a:solidFill>
              </a:rPr>
              <a:t>You must also prepare a </a:t>
            </a:r>
            <a:r>
              <a:rPr b="1" lang="en" sz="1200">
                <a:solidFill>
                  <a:srgbClr val="000000"/>
                </a:solidFill>
              </a:rPr>
              <a:t>60-second pitch</a:t>
            </a:r>
            <a:r>
              <a:rPr lang="en" sz="1200">
                <a:solidFill>
                  <a:srgbClr val="000000"/>
                </a:solidFill>
              </a:rPr>
              <a:t> to explain your poster to the class.</a:t>
            </a:r>
            <a:endParaRPr sz="1200">
              <a:solidFill>
                <a:srgbClr val="000000"/>
              </a:solidFill>
            </a:endParaRPr>
          </a:p>
          <a:p>
            <a:pPr indent="0" lvl="0" marL="0" rtl="0" algn="l">
              <a:lnSpc>
                <a:spcPct val="90000"/>
              </a:lnSpc>
              <a:spcBef>
                <a:spcPts val="800"/>
              </a:spcBef>
              <a:spcAft>
                <a:spcPts val="0"/>
              </a:spcAft>
              <a:buSzPts val="1400"/>
              <a:buNone/>
            </a:pPr>
            <a:r>
              <a:t/>
            </a:r>
            <a:endParaRPr sz="1200">
              <a:solidFill>
                <a:srgbClr val="000000"/>
              </a:solidFill>
            </a:endParaRPr>
          </a:p>
          <a:p>
            <a:pPr indent="0" lvl="0" marL="0" rtl="0" algn="l">
              <a:lnSpc>
                <a:spcPct val="115000"/>
              </a:lnSpc>
              <a:spcBef>
                <a:spcPts val="1400"/>
              </a:spcBef>
              <a:spcAft>
                <a:spcPts val="0"/>
              </a:spcAft>
              <a:buSzPts val="1400"/>
              <a:buNone/>
            </a:pPr>
            <a:r>
              <a:rPr b="1" lang="en" sz="1200">
                <a:solidFill>
                  <a:srgbClr val="000000"/>
                </a:solidFill>
              </a:rPr>
              <a:t>Poster Must Include:</a:t>
            </a:r>
            <a:endParaRPr b="1"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en" sz="1200">
                <a:solidFill>
                  <a:srgbClr val="000000"/>
                </a:solidFill>
              </a:rPr>
              <a:t>A </a:t>
            </a:r>
            <a:r>
              <a:rPr b="1" lang="en" sz="1200">
                <a:solidFill>
                  <a:srgbClr val="000000"/>
                </a:solidFill>
              </a:rPr>
              <a:t>title</a:t>
            </a:r>
            <a:r>
              <a:rPr lang="en" sz="1200">
                <a:solidFill>
                  <a:srgbClr val="000000"/>
                </a:solidFill>
              </a:rPr>
              <a:t> (e.g., </a:t>
            </a:r>
            <a:r>
              <a:rPr i="1" lang="en" sz="1200">
                <a:solidFill>
                  <a:srgbClr val="000000"/>
                </a:solidFill>
              </a:rPr>
              <a:t>“Don’t Get Ripped Off!”</a:t>
            </a:r>
            <a:r>
              <a:rPr lang="en" sz="1200">
                <a:solidFill>
                  <a:srgbClr val="000000"/>
                </a:solidFill>
              </a:rPr>
              <a:t> or </a:t>
            </a:r>
            <a:r>
              <a:rPr i="1" lang="en" sz="1200">
                <a:solidFill>
                  <a:srgbClr val="000000"/>
                </a:solidFill>
              </a:rPr>
              <a:t>“Your Rights, Your Power”</a:t>
            </a:r>
            <a:r>
              <a:rPr lang="en" sz="1200">
                <a:solidFill>
                  <a:srgbClr val="000000"/>
                </a:solidFill>
              </a:rPr>
              <a:t>)</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At least </a:t>
            </a:r>
            <a:r>
              <a:rPr b="1" lang="en" sz="1200">
                <a:solidFill>
                  <a:srgbClr val="000000"/>
                </a:solidFill>
              </a:rPr>
              <a:t>3 key rights</a:t>
            </a:r>
            <a:r>
              <a:rPr lang="en" sz="1200">
                <a:solidFill>
                  <a:srgbClr val="000000"/>
                </a:solidFill>
              </a:rPr>
              <a:t> from consumer law (e.g. fit for purpose, satisfactory quality, safety)</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rPr>
              <a:t>Visual examples</a:t>
            </a:r>
            <a:r>
              <a:rPr lang="en" sz="1200">
                <a:solidFill>
                  <a:srgbClr val="000000"/>
                </a:solidFill>
              </a:rPr>
              <a:t> (e.g. a faulty product, misleading advert, unsafe charger)</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 </a:t>
            </a:r>
            <a:r>
              <a:rPr b="1" lang="en" sz="1200">
                <a:solidFill>
                  <a:srgbClr val="000000"/>
                </a:solidFill>
              </a:rPr>
              <a:t>clear message</a:t>
            </a:r>
            <a:r>
              <a:rPr lang="en" sz="1200">
                <a:solidFill>
                  <a:srgbClr val="000000"/>
                </a:solidFill>
              </a:rPr>
              <a:t> about what customers should do if things go wrong</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Font typeface="Avenir"/>
              <a:buChar char="●"/>
            </a:pPr>
            <a:r>
              <a:rPr lang="en" sz="1200">
                <a:solidFill>
                  <a:srgbClr val="000000"/>
                </a:solidFill>
              </a:rPr>
              <a:t>Bright, bold, clear layout – make it classroom display-worthy!</a:t>
            </a:r>
            <a:endParaRPr sz="1200">
              <a:solidFill>
                <a:srgbClr val="000000"/>
              </a:solidFill>
            </a:endParaRPr>
          </a:p>
          <a:p>
            <a:pPr indent="0" lvl="0" marL="0" rtl="0" algn="l">
              <a:lnSpc>
                <a:spcPct val="90000"/>
              </a:lnSpc>
              <a:spcBef>
                <a:spcPts val="1200"/>
              </a:spcBef>
              <a:spcAft>
                <a:spcPts val="0"/>
              </a:spcAft>
              <a:buSzPts val="1400"/>
              <a:buNone/>
            </a:pPr>
            <a:r>
              <a:t/>
            </a:r>
            <a:endParaRPr sz="1200">
              <a:solidFill>
                <a:srgbClr val="000000"/>
              </a:solidFill>
            </a:endParaRPr>
          </a:p>
        </p:txBody>
      </p:sp>
      <p:pic>
        <p:nvPicPr>
          <p:cNvPr id="236" name="Google Shape;236;g360095ba283_0_69"/>
          <p:cNvPicPr preferRelativeResize="0"/>
          <p:nvPr/>
        </p:nvPicPr>
        <p:blipFill rotWithShape="1">
          <a:blip r:embed="rId3">
            <a:alphaModFix/>
          </a:blip>
          <a:srcRect b="0" l="0" r="0" t="0"/>
          <a:stretch/>
        </p:blipFill>
        <p:spPr>
          <a:xfrm>
            <a:off x="7772725" y="198175"/>
            <a:ext cx="742625" cy="792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c2d0279d42_0_14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u="sng"/>
              <a:t>Task </a:t>
            </a:r>
            <a:endParaRPr u="sng"/>
          </a:p>
        </p:txBody>
      </p:sp>
      <p:sp>
        <p:nvSpPr>
          <p:cNvPr id="242" name="Google Shape;242;g3c2d0279d42_0_14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b="1" lang="en" sz="1500"/>
              <a:t>Which of the following is not one of the principles of the Consumer Rights Act (2015)?</a:t>
            </a:r>
            <a:endParaRPr b="1" sz="1500"/>
          </a:p>
          <a:p>
            <a:pPr indent="-260350" lvl="0" marL="342900" rtl="0" algn="l">
              <a:lnSpc>
                <a:spcPct val="90000"/>
              </a:lnSpc>
              <a:spcBef>
                <a:spcPts val="800"/>
              </a:spcBef>
              <a:spcAft>
                <a:spcPts val="0"/>
              </a:spcAft>
              <a:buSzPts val="1500"/>
              <a:buAutoNum type="alphaLcPeriod"/>
            </a:pPr>
            <a:r>
              <a:rPr lang="en" sz="1500"/>
              <a:t>The product must be of satisfactory quality</a:t>
            </a:r>
            <a:endParaRPr sz="1500"/>
          </a:p>
          <a:p>
            <a:pPr indent="-260350" lvl="0" marL="342900" rtl="0" algn="l">
              <a:lnSpc>
                <a:spcPct val="90000"/>
              </a:lnSpc>
              <a:spcBef>
                <a:spcPts val="0"/>
              </a:spcBef>
              <a:spcAft>
                <a:spcPts val="0"/>
              </a:spcAft>
              <a:buSzPts val="1500"/>
              <a:buAutoNum type="alphaLcPeriod"/>
            </a:pPr>
            <a:r>
              <a:rPr lang="en" sz="1500"/>
              <a:t>The product should be unfit for purpose</a:t>
            </a:r>
            <a:endParaRPr sz="1500"/>
          </a:p>
          <a:p>
            <a:pPr indent="-260350" lvl="0" marL="342900" rtl="0" algn="l">
              <a:lnSpc>
                <a:spcPct val="90000"/>
              </a:lnSpc>
              <a:spcBef>
                <a:spcPts val="0"/>
              </a:spcBef>
              <a:spcAft>
                <a:spcPts val="0"/>
              </a:spcAft>
              <a:buSzPts val="1500"/>
              <a:buAutoNum type="alphaLcPeriod"/>
            </a:pPr>
            <a:r>
              <a:rPr lang="en" sz="1500"/>
              <a:t>The product must be as described</a:t>
            </a:r>
            <a:endParaRPr sz="1500"/>
          </a:p>
          <a:p>
            <a:pPr indent="0" lvl="0" marL="0" rtl="0" algn="l">
              <a:lnSpc>
                <a:spcPct val="90000"/>
              </a:lnSpc>
              <a:spcBef>
                <a:spcPts val="800"/>
              </a:spcBef>
              <a:spcAft>
                <a:spcPts val="0"/>
              </a:spcAft>
              <a:buSzPts val="1400"/>
              <a:buNone/>
            </a:pPr>
            <a:r>
              <a:rPr b="1" lang="en" sz="1500"/>
              <a:t>Which of the following statements about legislation is true?</a:t>
            </a:r>
            <a:endParaRPr b="1" sz="1500"/>
          </a:p>
          <a:p>
            <a:pPr indent="-260350" lvl="0" marL="342900" rtl="0" algn="l">
              <a:lnSpc>
                <a:spcPct val="90000"/>
              </a:lnSpc>
              <a:spcBef>
                <a:spcPts val="800"/>
              </a:spcBef>
              <a:spcAft>
                <a:spcPts val="0"/>
              </a:spcAft>
              <a:buSzPts val="1500"/>
              <a:buAutoNum type="alphaLcPeriod"/>
            </a:pPr>
            <a:r>
              <a:rPr lang="en" sz="1500"/>
              <a:t>All staff must be paid the same wage under national minimum wage legislation</a:t>
            </a:r>
            <a:endParaRPr sz="1500"/>
          </a:p>
          <a:p>
            <a:pPr indent="-260350" lvl="0" marL="342900" rtl="0" algn="l">
              <a:lnSpc>
                <a:spcPct val="90000"/>
              </a:lnSpc>
              <a:spcBef>
                <a:spcPts val="0"/>
              </a:spcBef>
              <a:spcAft>
                <a:spcPts val="0"/>
              </a:spcAft>
              <a:buSzPts val="1500"/>
              <a:buAutoNum type="alphaLcPeriod"/>
            </a:pPr>
            <a:r>
              <a:rPr lang="en" sz="1500"/>
              <a:t>Businesses must not describe the features of a product in advertisements</a:t>
            </a:r>
            <a:endParaRPr sz="1500"/>
          </a:p>
          <a:p>
            <a:pPr indent="-260350" lvl="0" marL="342900" rtl="0" algn="l">
              <a:lnSpc>
                <a:spcPct val="90000"/>
              </a:lnSpc>
              <a:spcBef>
                <a:spcPts val="0"/>
              </a:spcBef>
              <a:spcAft>
                <a:spcPts val="0"/>
              </a:spcAft>
              <a:buSzPts val="1500"/>
              <a:buAutoNum type="alphaLcPeriod"/>
            </a:pPr>
            <a:r>
              <a:rPr lang="en" sz="1500"/>
              <a:t>It is an offence for a business to break health and safety laws</a:t>
            </a:r>
            <a:endParaRPr sz="1500"/>
          </a:p>
          <a:p>
            <a:pPr indent="0" lvl="0" marL="0" rtl="0" algn="l">
              <a:lnSpc>
                <a:spcPct val="90000"/>
              </a:lnSpc>
              <a:spcBef>
                <a:spcPts val="800"/>
              </a:spcBef>
              <a:spcAft>
                <a:spcPts val="0"/>
              </a:spcAft>
              <a:buSzPts val="1400"/>
              <a:buNone/>
            </a:pPr>
            <a:r>
              <a:rPr lang="en" sz="1500"/>
              <a:t>Which of these is a service? </a:t>
            </a:r>
            <a:endParaRPr sz="1500"/>
          </a:p>
          <a:p>
            <a:pPr indent="-323850" lvl="0" marL="457200" rtl="0" algn="l">
              <a:lnSpc>
                <a:spcPct val="90000"/>
              </a:lnSpc>
              <a:spcBef>
                <a:spcPts val="800"/>
              </a:spcBef>
              <a:spcAft>
                <a:spcPts val="0"/>
              </a:spcAft>
              <a:buSzPts val="1500"/>
              <a:buAutoNum type="alphaLcPeriod"/>
            </a:pPr>
            <a:r>
              <a:rPr lang="en" sz="1500"/>
              <a:t>A takeaway pizza</a:t>
            </a:r>
            <a:endParaRPr sz="1500"/>
          </a:p>
          <a:p>
            <a:pPr indent="-323850" lvl="0" marL="457200" rtl="0" algn="l">
              <a:lnSpc>
                <a:spcPct val="90000"/>
              </a:lnSpc>
              <a:spcBef>
                <a:spcPts val="0"/>
              </a:spcBef>
              <a:spcAft>
                <a:spcPts val="0"/>
              </a:spcAft>
              <a:buSzPts val="1500"/>
              <a:buAutoNum type="alphaLcPeriod"/>
            </a:pPr>
            <a:r>
              <a:rPr lang="en" sz="1500"/>
              <a:t>pair of trainers</a:t>
            </a:r>
            <a:endParaRPr sz="1500"/>
          </a:p>
          <a:p>
            <a:pPr indent="-323850" lvl="0" marL="457200" rtl="0" algn="l">
              <a:lnSpc>
                <a:spcPct val="90000"/>
              </a:lnSpc>
              <a:spcBef>
                <a:spcPts val="0"/>
              </a:spcBef>
              <a:spcAft>
                <a:spcPts val="0"/>
              </a:spcAft>
              <a:buSzPts val="1500"/>
              <a:buAutoNum type="alphaLcPeriod"/>
            </a:pPr>
            <a:r>
              <a:rPr lang="en" sz="1500"/>
              <a:t>A haircut</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g3c2d0279d42_0_154"/>
          <p:cNvSpPr txBox="1"/>
          <p:nvPr>
            <p:ph type="title"/>
          </p:nvPr>
        </p:nvSpPr>
        <p:spPr>
          <a:xfrm>
            <a:off x="0" y="13781"/>
            <a:ext cx="91440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accent3"/>
              </a:buClr>
              <a:buSzPts val="3300"/>
              <a:buFont typeface="Avenir"/>
              <a:buNone/>
            </a:pPr>
            <a:r>
              <a:rPr lang="en" sz="2600"/>
              <a:t>CONSUMER RIGHTS ACT (2015)- KEY AREAS</a:t>
            </a:r>
            <a:endParaRPr/>
          </a:p>
        </p:txBody>
      </p:sp>
      <p:sp>
        <p:nvSpPr>
          <p:cNvPr id="249" name="Google Shape;249;g3c2d0279d42_0_154"/>
          <p:cNvSpPr txBox="1"/>
          <p:nvPr>
            <p:ph idx="1" type="body"/>
          </p:nvPr>
        </p:nvSpPr>
        <p:spPr>
          <a:xfrm>
            <a:off x="196258" y="795061"/>
            <a:ext cx="8713800" cy="3263400"/>
          </a:xfrm>
          <a:prstGeom prst="rect">
            <a:avLst/>
          </a:prstGeom>
          <a:noFill/>
          <a:ln>
            <a:noFill/>
          </a:ln>
        </p:spPr>
        <p:txBody>
          <a:bodyPr anchorCtr="0" anchor="t" bIns="34275" lIns="68575" spcFirstLastPara="1" rIns="68575" wrap="square" tIns="34275">
            <a:noAutofit/>
          </a:bodyPr>
          <a:lstStyle/>
          <a:p>
            <a:pPr indent="-317500" lvl="0" marL="457200" rtl="0" algn="l">
              <a:lnSpc>
                <a:spcPct val="90000"/>
              </a:lnSpc>
              <a:spcBef>
                <a:spcPts val="800"/>
              </a:spcBef>
              <a:spcAft>
                <a:spcPts val="0"/>
              </a:spcAft>
              <a:buSzPts val="1400"/>
              <a:buChar char="•"/>
            </a:pPr>
            <a:r>
              <a:rPr lang="en" sz="1500">
                <a:solidFill>
                  <a:srgbClr val="231F20"/>
                </a:solidFill>
              </a:rPr>
              <a:t>The Consumer Rights Act (2015) is designed to protect consumers from unfair and dishonest business practices.</a:t>
            </a:r>
            <a:endParaRPr sz="1500">
              <a:solidFill>
                <a:srgbClr val="231F20"/>
              </a:solidFill>
            </a:endParaRPr>
          </a:p>
          <a:p>
            <a:pPr indent="-317500" lvl="0" marL="457200" rtl="0" algn="l">
              <a:lnSpc>
                <a:spcPct val="90000"/>
              </a:lnSpc>
              <a:spcBef>
                <a:spcPts val="800"/>
              </a:spcBef>
              <a:spcAft>
                <a:spcPts val="0"/>
              </a:spcAft>
              <a:buClr>
                <a:srgbClr val="57595A"/>
              </a:buClr>
              <a:buSzPts val="1400"/>
              <a:buChar char="•"/>
            </a:pPr>
            <a:r>
              <a:rPr lang="en" sz="1500">
                <a:solidFill>
                  <a:srgbClr val="231F20"/>
                </a:solidFill>
              </a:rPr>
              <a:t>To ensure this is achieved, the Consumer Rights Act (2015) </a:t>
            </a:r>
            <a:r>
              <a:rPr lang="en" sz="1500">
                <a:solidFill>
                  <a:srgbClr val="161616"/>
                </a:solidFill>
              </a:rPr>
              <a:t>covers the key areas of a business transaction, which include:</a:t>
            </a:r>
            <a:endParaRPr sz="1500"/>
          </a:p>
        </p:txBody>
      </p:sp>
      <p:grpSp>
        <p:nvGrpSpPr>
          <p:cNvPr id="250" name="Google Shape;250;g3c2d0279d42_0_154"/>
          <p:cNvGrpSpPr/>
          <p:nvPr/>
        </p:nvGrpSpPr>
        <p:grpSpPr>
          <a:xfrm>
            <a:off x="1143134" y="2918627"/>
            <a:ext cx="6503214" cy="907500"/>
            <a:chOff x="1906" y="451874"/>
            <a:chExt cx="6503214" cy="907500"/>
          </a:xfrm>
        </p:grpSpPr>
        <p:sp>
          <p:nvSpPr>
            <p:cNvPr id="251" name="Google Shape;251;g3c2d0279d42_0_154"/>
            <p:cNvSpPr/>
            <p:nvPr/>
          </p:nvSpPr>
          <p:spPr>
            <a:xfrm>
              <a:off x="1906" y="451874"/>
              <a:ext cx="1512300" cy="9075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c2d0279d42_0_154"/>
            <p:cNvSpPr txBox="1"/>
            <p:nvPr/>
          </p:nvSpPr>
          <p:spPr>
            <a:xfrm>
              <a:off x="1906" y="451874"/>
              <a:ext cx="1512300" cy="9075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The product or service</a:t>
              </a:r>
              <a:endParaRPr b="0" i="0" sz="1900" u="none" cap="none" strike="noStrike">
                <a:solidFill>
                  <a:schemeClr val="lt1"/>
                </a:solidFill>
                <a:latin typeface="Arial"/>
                <a:ea typeface="Arial"/>
                <a:cs typeface="Arial"/>
                <a:sym typeface="Arial"/>
              </a:endParaRPr>
            </a:p>
          </p:txBody>
        </p:sp>
        <p:sp>
          <p:nvSpPr>
            <p:cNvPr id="253" name="Google Shape;253;g3c2d0279d42_0_154"/>
            <p:cNvSpPr/>
            <p:nvPr/>
          </p:nvSpPr>
          <p:spPr>
            <a:xfrm>
              <a:off x="1665544" y="451874"/>
              <a:ext cx="1512300" cy="907500"/>
            </a:xfrm>
            <a:prstGeom prst="rect">
              <a:avLst/>
            </a:prstGeom>
            <a:solidFill>
              <a:srgbClr val="50C9B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c2d0279d42_0_154"/>
            <p:cNvSpPr txBox="1"/>
            <p:nvPr/>
          </p:nvSpPr>
          <p:spPr>
            <a:xfrm>
              <a:off x="1665544" y="451874"/>
              <a:ext cx="1512300" cy="9075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Returns</a:t>
              </a:r>
              <a:endParaRPr b="0" i="0" sz="1900" u="none" cap="none" strike="noStrike">
                <a:solidFill>
                  <a:schemeClr val="lt1"/>
                </a:solidFill>
                <a:latin typeface="Arial"/>
                <a:ea typeface="Arial"/>
                <a:cs typeface="Arial"/>
                <a:sym typeface="Arial"/>
              </a:endParaRPr>
            </a:p>
          </p:txBody>
        </p:sp>
        <p:sp>
          <p:nvSpPr>
            <p:cNvPr id="255" name="Google Shape;255;g3c2d0279d42_0_154"/>
            <p:cNvSpPr/>
            <p:nvPr/>
          </p:nvSpPr>
          <p:spPr>
            <a:xfrm>
              <a:off x="3329182" y="451874"/>
              <a:ext cx="1512300" cy="907500"/>
            </a:xfrm>
            <a:prstGeom prst="rect">
              <a:avLst/>
            </a:prstGeom>
            <a:solidFill>
              <a:srgbClr val="48BD6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c2d0279d42_0_154"/>
            <p:cNvSpPr txBox="1"/>
            <p:nvPr/>
          </p:nvSpPr>
          <p:spPr>
            <a:xfrm>
              <a:off x="3329182" y="451874"/>
              <a:ext cx="1512300" cy="9075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Repairs and replacement</a:t>
              </a:r>
              <a:endParaRPr b="0" i="0" sz="1900" u="none" cap="none" strike="noStrike">
                <a:solidFill>
                  <a:schemeClr val="lt1"/>
                </a:solidFill>
                <a:latin typeface="Arial"/>
                <a:ea typeface="Arial"/>
                <a:cs typeface="Arial"/>
                <a:sym typeface="Arial"/>
              </a:endParaRPr>
            </a:p>
          </p:txBody>
        </p:sp>
        <p:sp>
          <p:nvSpPr>
            <p:cNvPr id="257" name="Google Shape;257;g3c2d0279d42_0_154"/>
            <p:cNvSpPr/>
            <p:nvPr/>
          </p:nvSpPr>
          <p:spPr>
            <a:xfrm>
              <a:off x="4992820" y="451874"/>
              <a:ext cx="1512300" cy="907500"/>
            </a:xfrm>
            <a:prstGeom prst="rect">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3c2d0279d42_0_154"/>
            <p:cNvSpPr txBox="1"/>
            <p:nvPr/>
          </p:nvSpPr>
          <p:spPr>
            <a:xfrm>
              <a:off x="4992820" y="451874"/>
              <a:ext cx="1512300" cy="9075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000000"/>
                </a:buClr>
                <a:buSzPts val="1900"/>
                <a:buFont typeface="Arial"/>
                <a:buNone/>
              </a:pPr>
              <a:r>
                <a:rPr b="0" i="0" lang="en" sz="1900" u="none" cap="none" strike="noStrike">
                  <a:solidFill>
                    <a:schemeClr val="lt1"/>
                  </a:solidFill>
                  <a:latin typeface="Arial"/>
                  <a:ea typeface="Arial"/>
                  <a:cs typeface="Arial"/>
                  <a:sym typeface="Arial"/>
                </a:rPr>
                <a:t>Delivery</a:t>
              </a:r>
              <a:endParaRPr b="0" i="0" sz="1900" u="none" cap="none" strike="noStrike">
                <a:solidFill>
                  <a:schemeClr val="lt1"/>
                </a:solidFill>
                <a:latin typeface="Arial"/>
                <a:ea typeface="Arial"/>
                <a:cs typeface="Arial"/>
                <a:sym typeface="Arial"/>
              </a:endParaRPr>
            </a:p>
          </p:txBody>
        </p:sp>
      </p:grpSp>
      <p:sp>
        <p:nvSpPr>
          <p:cNvPr id="259" name="Google Shape;259;g3c2d0279d42_0_154"/>
          <p:cNvSpPr txBox="1"/>
          <p:nvPr/>
        </p:nvSpPr>
        <p:spPr>
          <a:xfrm>
            <a:off x="8047350" y="3000650"/>
            <a:ext cx="940800" cy="7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FF0000"/>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5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500"/>
                                        <p:tgtEl>
                                          <p:spTgt spid="24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c2d0279d42_0_189"/>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126923"/>
              <a:buNone/>
            </a:pPr>
            <a:r>
              <a:rPr lang="en" sz="2600"/>
              <a:t>Some key points of the consumer rights act 2015 include: </a:t>
            </a:r>
            <a:endParaRPr sz="2600"/>
          </a:p>
        </p:txBody>
      </p:sp>
      <p:sp>
        <p:nvSpPr>
          <p:cNvPr id="265" name="Google Shape;265;g3c2d0279d42_0_189"/>
          <p:cNvSpPr txBox="1"/>
          <p:nvPr>
            <p:ph idx="1" type="body"/>
          </p:nvPr>
        </p:nvSpPr>
        <p:spPr>
          <a:xfrm>
            <a:off x="471503" y="1026925"/>
            <a:ext cx="7537800" cy="2447700"/>
          </a:xfrm>
          <a:prstGeom prst="rect">
            <a:avLst/>
          </a:prstGeom>
          <a:noFill/>
          <a:ln>
            <a:noFill/>
          </a:ln>
        </p:spPr>
        <p:txBody>
          <a:bodyPr anchorCtr="0" anchor="t" bIns="34275" lIns="68575" spcFirstLastPara="1" rIns="68575" wrap="square" tIns="34275">
            <a:noAutofit/>
          </a:bodyPr>
          <a:lstStyle/>
          <a:p>
            <a:pPr indent="-241300" lvl="0" marL="342900" rtl="0" algn="l">
              <a:lnSpc>
                <a:spcPct val="80000"/>
              </a:lnSpc>
              <a:spcBef>
                <a:spcPts val="800"/>
              </a:spcBef>
              <a:spcAft>
                <a:spcPts val="0"/>
              </a:spcAft>
              <a:buSzPts val="1200"/>
              <a:buChar char="•"/>
            </a:pPr>
            <a:r>
              <a:rPr lang="en" sz="1200"/>
              <a:t>Goods must be of satisfactory quality, fit for purpose for what they are used for and how they are described to the customer</a:t>
            </a:r>
            <a:endParaRPr sz="1200"/>
          </a:p>
          <a:p>
            <a:pPr indent="0" lvl="0" marL="342900" rtl="0" algn="l">
              <a:lnSpc>
                <a:spcPct val="80000"/>
              </a:lnSpc>
              <a:spcBef>
                <a:spcPts val="800"/>
              </a:spcBef>
              <a:spcAft>
                <a:spcPts val="0"/>
              </a:spcAft>
              <a:buSzPts val="1900"/>
              <a:buNone/>
            </a:pPr>
            <a:r>
              <a:t/>
            </a:r>
            <a:endParaRPr sz="1200"/>
          </a:p>
          <a:p>
            <a:pPr indent="-241300" lvl="0" marL="342900" rtl="0" algn="l">
              <a:lnSpc>
                <a:spcPct val="80000"/>
              </a:lnSpc>
              <a:spcBef>
                <a:spcPts val="800"/>
              </a:spcBef>
              <a:spcAft>
                <a:spcPts val="0"/>
              </a:spcAft>
              <a:buSzPts val="1200"/>
              <a:buChar char="•"/>
            </a:pPr>
            <a:r>
              <a:rPr lang="en" sz="1200"/>
              <a:t>Customers have the legal right to reject goods within 30 days if there’s something wrong with the item</a:t>
            </a:r>
            <a:endParaRPr sz="1200"/>
          </a:p>
          <a:p>
            <a:pPr indent="0" lvl="0" marL="342900" rtl="0" algn="l">
              <a:lnSpc>
                <a:spcPct val="80000"/>
              </a:lnSpc>
              <a:spcBef>
                <a:spcPts val="800"/>
              </a:spcBef>
              <a:spcAft>
                <a:spcPts val="0"/>
              </a:spcAft>
              <a:buSzPts val="1900"/>
              <a:buNone/>
            </a:pPr>
            <a:r>
              <a:t/>
            </a:r>
            <a:endParaRPr sz="1200"/>
          </a:p>
          <a:p>
            <a:pPr indent="-241300" lvl="0" marL="342900" rtl="0" algn="l">
              <a:lnSpc>
                <a:spcPct val="80000"/>
              </a:lnSpc>
              <a:spcBef>
                <a:spcPts val="800"/>
              </a:spcBef>
              <a:spcAft>
                <a:spcPts val="0"/>
              </a:spcAft>
              <a:buSzPts val="1200"/>
              <a:buChar char="•"/>
            </a:pPr>
            <a:r>
              <a:rPr lang="en" sz="1200"/>
              <a:t>After 30 days customers have the right to a repair, replacement or refund for faulty goods</a:t>
            </a:r>
            <a:endParaRPr sz="1200"/>
          </a:p>
          <a:p>
            <a:pPr indent="0" lvl="0" marL="342900" rtl="0" algn="l">
              <a:lnSpc>
                <a:spcPct val="80000"/>
              </a:lnSpc>
              <a:spcBef>
                <a:spcPts val="800"/>
              </a:spcBef>
              <a:spcAft>
                <a:spcPts val="0"/>
              </a:spcAft>
              <a:buSzPts val="1900"/>
              <a:buNone/>
            </a:pPr>
            <a:r>
              <a:t/>
            </a:r>
            <a:endParaRPr sz="1200"/>
          </a:p>
          <a:p>
            <a:pPr indent="-241300" lvl="0" marL="342900" rtl="0" algn="l">
              <a:lnSpc>
                <a:spcPct val="80000"/>
              </a:lnSpc>
              <a:spcBef>
                <a:spcPts val="800"/>
              </a:spcBef>
              <a:spcAft>
                <a:spcPts val="0"/>
              </a:spcAft>
              <a:buSzPts val="1200"/>
              <a:buChar char="•"/>
            </a:pPr>
            <a:r>
              <a:rPr lang="en" sz="1200"/>
              <a:t>Digital content such as films or games online, should also be of a suitable quality</a:t>
            </a:r>
            <a:endParaRPr sz="1200"/>
          </a:p>
          <a:p>
            <a:pPr indent="0" lvl="0" marL="342900" rtl="0" algn="l">
              <a:lnSpc>
                <a:spcPct val="80000"/>
              </a:lnSpc>
              <a:spcBef>
                <a:spcPts val="800"/>
              </a:spcBef>
              <a:spcAft>
                <a:spcPts val="0"/>
              </a:spcAft>
              <a:buSzPts val="1900"/>
              <a:buNone/>
            </a:pPr>
            <a:r>
              <a:t/>
            </a:r>
            <a:endParaRPr sz="1200"/>
          </a:p>
          <a:p>
            <a:pPr indent="-241300" lvl="0" marL="342900" rtl="0" algn="l">
              <a:lnSpc>
                <a:spcPct val="80000"/>
              </a:lnSpc>
              <a:spcBef>
                <a:spcPts val="800"/>
              </a:spcBef>
              <a:spcAft>
                <a:spcPts val="0"/>
              </a:spcAft>
              <a:buSzPts val="1200"/>
              <a:buChar char="•"/>
            </a:pPr>
            <a:r>
              <a:rPr lang="en" sz="1200"/>
              <a:t>The retailer is responsible for the safe delivery of goods </a:t>
            </a:r>
            <a:endParaRPr sz="1200"/>
          </a:p>
          <a:p>
            <a:pPr indent="0" lvl="0" marL="342900" rtl="0" algn="l">
              <a:lnSpc>
                <a:spcPct val="80000"/>
              </a:lnSpc>
              <a:spcBef>
                <a:spcPts val="800"/>
              </a:spcBef>
              <a:spcAft>
                <a:spcPts val="0"/>
              </a:spcAft>
              <a:buSzPts val="1900"/>
              <a:buNone/>
            </a:pPr>
            <a:r>
              <a:t/>
            </a:r>
            <a:endParaRPr sz="1200"/>
          </a:p>
          <a:p>
            <a:pPr indent="-241300" lvl="0" marL="342900" rtl="0" algn="l">
              <a:lnSpc>
                <a:spcPct val="80000"/>
              </a:lnSpc>
              <a:spcBef>
                <a:spcPts val="800"/>
              </a:spcBef>
              <a:spcAft>
                <a:spcPts val="0"/>
              </a:spcAft>
              <a:buSzPts val="1200"/>
              <a:buChar char="•"/>
            </a:pPr>
            <a:r>
              <a:rPr lang="en" sz="1200"/>
              <a:t>A business not providing a service must provide the service with reasonable care and should be redone or corrected if they do not</a:t>
            </a:r>
            <a:endParaRPr sz="1200"/>
          </a:p>
          <a:p>
            <a:pPr indent="-241300" lvl="0" marL="342900" rtl="0" algn="l">
              <a:lnSpc>
                <a:spcPct val="80000"/>
              </a:lnSpc>
              <a:spcBef>
                <a:spcPts val="800"/>
              </a:spcBef>
              <a:spcAft>
                <a:spcPts val="0"/>
              </a:spcAft>
              <a:buSzPts val="1200"/>
              <a:buChar char="•"/>
            </a:pPr>
            <a:r>
              <a:rPr lang="en" sz="1200"/>
              <a:t>Businesses are not allowed to enforce unfair terms when selling goods or services and this may even lead to court cancelling a contract that is judged as unfair. </a:t>
            </a:r>
            <a:endParaRPr sz="1200"/>
          </a:p>
        </p:txBody>
      </p:sp>
      <p:pic>
        <p:nvPicPr>
          <p:cNvPr id="266" name="Google Shape;266;g3c2d0279d42_0_189"/>
          <p:cNvPicPr preferRelativeResize="0"/>
          <p:nvPr/>
        </p:nvPicPr>
        <p:blipFill rotWithShape="1">
          <a:blip r:embed="rId3">
            <a:alphaModFix/>
          </a:blip>
          <a:srcRect b="0" l="0" r="0" t="0"/>
          <a:stretch/>
        </p:blipFill>
        <p:spPr>
          <a:xfrm>
            <a:off x="8465628" y="0"/>
            <a:ext cx="678375" cy="929225"/>
          </a:xfrm>
          <a:prstGeom prst="rect">
            <a:avLst/>
          </a:prstGeom>
          <a:noFill/>
          <a:ln>
            <a:noFill/>
          </a:ln>
        </p:spPr>
      </p:pic>
      <p:sp>
        <p:nvSpPr>
          <p:cNvPr id="267" name="Google Shape;267;g3c2d0279d42_0_189"/>
          <p:cNvSpPr txBox="1"/>
          <p:nvPr/>
        </p:nvSpPr>
        <p:spPr>
          <a:xfrm>
            <a:off x="7827325" y="885025"/>
            <a:ext cx="1149300" cy="79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sng" cap="none" strike="noStrike">
                <a:solidFill>
                  <a:srgbClr val="FF0000"/>
                </a:solidFill>
                <a:latin typeface="Avenir"/>
                <a:ea typeface="Avenir"/>
                <a:cs typeface="Avenir"/>
                <a:sym typeface="Avenir"/>
              </a:rPr>
              <a:t>Categorise these into the key areas  </a:t>
            </a:r>
            <a:endParaRPr b="0" i="0" sz="1100" u="sng" cap="none" strike="noStrike">
              <a:solidFill>
                <a:srgbClr val="FF0000"/>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1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10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1000"/>
                                        <p:tgtEl>
                                          <p:spTgt spid="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Effect filter="fade" transition="in">
                                      <p:cBhvr>
                                        <p:cTn dur="1000"/>
                                        <p:tgtEl>
                                          <p:spTgt spid="2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Effect filter="fade" transition="in">
                                      <p:cBhvr>
                                        <p:cTn dur="1000"/>
                                        <p:tgtEl>
                                          <p:spTgt spid="2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5" st="5"/>
                                            </p:txEl>
                                          </p:spTgt>
                                        </p:tgtEl>
                                        <p:attrNameLst>
                                          <p:attrName>style.visibility</p:attrName>
                                        </p:attrNameLst>
                                      </p:cBhvr>
                                      <p:to>
                                        <p:strVal val="visible"/>
                                      </p:to>
                                    </p:set>
                                    <p:animEffect filter="fade" transition="in">
                                      <p:cBhvr>
                                        <p:cTn dur="1000"/>
                                        <p:tgtEl>
                                          <p:spTgt spid="2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6" st="6"/>
                                            </p:txEl>
                                          </p:spTgt>
                                        </p:tgtEl>
                                        <p:attrNameLst>
                                          <p:attrName>style.visibility</p:attrName>
                                        </p:attrNameLst>
                                      </p:cBhvr>
                                      <p:to>
                                        <p:strVal val="visible"/>
                                      </p:to>
                                    </p:set>
                                    <p:animEffect filter="fade" transition="in">
                                      <p:cBhvr>
                                        <p:cTn dur="1000"/>
                                        <p:tgtEl>
                                          <p:spTgt spid="2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7" st="7"/>
                                            </p:txEl>
                                          </p:spTgt>
                                        </p:tgtEl>
                                        <p:attrNameLst>
                                          <p:attrName>style.visibility</p:attrName>
                                        </p:attrNameLst>
                                      </p:cBhvr>
                                      <p:to>
                                        <p:strVal val="visible"/>
                                      </p:to>
                                    </p:set>
                                    <p:animEffect filter="fade" transition="in">
                                      <p:cBhvr>
                                        <p:cTn dur="1000"/>
                                        <p:tgtEl>
                                          <p:spTgt spid="2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8" st="8"/>
                                            </p:txEl>
                                          </p:spTgt>
                                        </p:tgtEl>
                                        <p:attrNameLst>
                                          <p:attrName>style.visibility</p:attrName>
                                        </p:attrNameLst>
                                      </p:cBhvr>
                                      <p:to>
                                        <p:strVal val="visible"/>
                                      </p:to>
                                    </p:set>
                                    <p:animEffect filter="fade" transition="in">
                                      <p:cBhvr>
                                        <p:cTn dur="1000"/>
                                        <p:tgtEl>
                                          <p:spTgt spid="2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9" st="9"/>
                                            </p:txEl>
                                          </p:spTgt>
                                        </p:tgtEl>
                                        <p:attrNameLst>
                                          <p:attrName>style.visibility</p:attrName>
                                        </p:attrNameLst>
                                      </p:cBhvr>
                                      <p:to>
                                        <p:strVal val="visible"/>
                                      </p:to>
                                    </p:set>
                                    <p:animEffect filter="fade" transition="in">
                                      <p:cBhvr>
                                        <p:cTn dur="1000"/>
                                        <p:tgtEl>
                                          <p:spTgt spid="2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0" st="10"/>
                                            </p:txEl>
                                          </p:spTgt>
                                        </p:tgtEl>
                                        <p:attrNameLst>
                                          <p:attrName>style.visibility</p:attrName>
                                        </p:attrNameLst>
                                      </p:cBhvr>
                                      <p:to>
                                        <p:strVal val="visible"/>
                                      </p:to>
                                    </p:set>
                                    <p:animEffect filter="fade" transition="in">
                                      <p:cBhvr>
                                        <p:cTn dur="1000"/>
                                        <p:tgtEl>
                                          <p:spTgt spid="2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1" st="11"/>
                                            </p:txEl>
                                          </p:spTgt>
                                        </p:tgtEl>
                                        <p:attrNameLst>
                                          <p:attrName>style.visibility</p:attrName>
                                        </p:attrNameLst>
                                      </p:cBhvr>
                                      <p:to>
                                        <p:strVal val="visible"/>
                                      </p:to>
                                    </p:set>
                                    <p:animEffect filter="fade" transition="in">
                                      <p:cBhvr>
                                        <p:cTn dur="1000"/>
                                        <p:tgtEl>
                                          <p:spTgt spid="26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c2d0279d42_0_196"/>
          <p:cNvSpPr txBox="1"/>
          <p:nvPr>
            <p:ph type="title"/>
          </p:nvPr>
        </p:nvSpPr>
        <p:spPr>
          <a:xfrm>
            <a:off x="628650" y="-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Activity</a:t>
            </a:r>
            <a:endParaRPr/>
          </a:p>
        </p:txBody>
      </p:sp>
      <p:sp>
        <p:nvSpPr>
          <p:cNvPr id="273" name="Google Shape;273;g3c2d0279d42_0_196"/>
          <p:cNvSpPr txBox="1"/>
          <p:nvPr>
            <p:ph idx="1" type="body"/>
          </p:nvPr>
        </p:nvSpPr>
        <p:spPr>
          <a:xfrm>
            <a:off x="550000" y="842019"/>
            <a:ext cx="7886700" cy="3263400"/>
          </a:xfrm>
          <a:prstGeom prst="rect">
            <a:avLst/>
          </a:prstGeom>
          <a:noFill/>
          <a:ln>
            <a:noFill/>
          </a:ln>
        </p:spPr>
        <p:txBody>
          <a:bodyPr anchorCtr="0" anchor="t" bIns="34275" lIns="68575" spcFirstLastPara="1" rIns="68575" wrap="square" tIns="34275">
            <a:noAutofit/>
          </a:bodyPr>
          <a:lstStyle/>
          <a:p>
            <a:pPr indent="-304800" lvl="0" marL="457200" rtl="0" algn="l">
              <a:lnSpc>
                <a:spcPct val="115000"/>
              </a:lnSpc>
              <a:spcBef>
                <a:spcPts val="1200"/>
              </a:spcBef>
              <a:spcAft>
                <a:spcPts val="0"/>
              </a:spcAft>
              <a:buClr>
                <a:srgbClr val="000000"/>
              </a:buClr>
              <a:buSzPts val="1200"/>
              <a:buFont typeface="Arial"/>
              <a:buAutoNum type="arabicPeriod"/>
            </a:pPr>
            <a:r>
              <a:rPr lang="en" sz="1200">
                <a:solidFill>
                  <a:srgbClr val="000000"/>
                </a:solidFill>
              </a:rPr>
              <a:t>Sofia orders a </a:t>
            </a:r>
            <a:r>
              <a:rPr b="1" lang="en" sz="1200">
                <a:solidFill>
                  <a:srgbClr val="000000"/>
                </a:solidFill>
              </a:rPr>
              <a:t>“100% wool winter coat”</a:t>
            </a:r>
            <a:r>
              <a:rPr lang="en" sz="1200">
                <a:solidFill>
                  <a:srgbClr val="000000"/>
                </a:solidFill>
              </a:rPr>
              <a:t> from an online retailer. When it arrives, the label shows it is mostly </a:t>
            </a:r>
            <a:r>
              <a:rPr b="1" lang="en" sz="1200">
                <a:solidFill>
                  <a:srgbClr val="000000"/>
                </a:solidFill>
              </a:rPr>
              <a:t>polyester</a:t>
            </a:r>
            <a:r>
              <a:rPr lang="en" sz="1200">
                <a:solidFill>
                  <a:srgbClr val="000000"/>
                </a:solidFill>
              </a:rPr>
              <a:t>, and it feels much thinner than expected. The website photos also made the coat look longer. The company offers her </a:t>
            </a:r>
            <a:r>
              <a:rPr b="1" lang="en" sz="1200">
                <a:solidFill>
                  <a:srgbClr val="000000"/>
                </a:solidFill>
              </a:rPr>
              <a:t>store credit only</a:t>
            </a:r>
            <a:r>
              <a:rPr lang="en" sz="1200">
                <a:solidFill>
                  <a:srgbClr val="000000"/>
                </a:solidFill>
              </a:rPr>
              <a:t>.</a:t>
            </a:r>
            <a:endParaRPr sz="1200">
              <a:solidFill>
                <a:srgbClr val="000000"/>
              </a:solidFill>
            </a:endParaRPr>
          </a:p>
          <a:p>
            <a:pPr indent="0" lvl="0" marL="0" rtl="0" algn="l">
              <a:lnSpc>
                <a:spcPct val="115000"/>
              </a:lnSpc>
              <a:spcBef>
                <a:spcPts val="1200"/>
              </a:spcBef>
              <a:spcAft>
                <a:spcPts val="0"/>
              </a:spcAft>
              <a:buSzPts val="1400"/>
              <a:buNone/>
            </a:pPr>
            <a:r>
              <a:rPr lang="en" sz="1200">
                <a:solidFill>
                  <a:srgbClr val="000000"/>
                </a:solidFill>
              </a:rPr>
              <a:t> Advise Sofia on her consumer rights. 3marks </a:t>
            </a:r>
            <a:endParaRPr sz="1200">
              <a:solidFill>
                <a:srgbClr val="000000"/>
              </a:solidFill>
            </a:endParaRPr>
          </a:p>
          <a:p>
            <a:pPr indent="-304800" lvl="0" marL="457200" rtl="0" algn="l">
              <a:lnSpc>
                <a:spcPct val="115000"/>
              </a:lnSpc>
              <a:spcBef>
                <a:spcPts val="1200"/>
              </a:spcBef>
              <a:spcAft>
                <a:spcPts val="0"/>
              </a:spcAft>
              <a:buClr>
                <a:srgbClr val="000000"/>
              </a:buClr>
              <a:buSzPts val="1200"/>
              <a:buAutoNum type="arabicPeriod"/>
            </a:pPr>
            <a:r>
              <a:rPr lang="en" sz="1200">
                <a:solidFill>
                  <a:srgbClr val="000000"/>
                </a:solidFill>
              </a:rPr>
              <a:t>Amir buys a </a:t>
            </a:r>
            <a:r>
              <a:rPr b="1" lang="en" sz="1200">
                <a:solidFill>
                  <a:srgbClr val="000000"/>
                </a:solidFill>
              </a:rPr>
              <a:t>new kettle</a:t>
            </a:r>
            <a:r>
              <a:rPr lang="en" sz="1200">
                <a:solidFill>
                  <a:srgbClr val="000000"/>
                </a:solidFill>
              </a:rPr>
              <a:t> from a high-street shop. When he uses it at home for the first time, it </a:t>
            </a:r>
            <a:r>
              <a:rPr b="1" lang="en" sz="1200">
                <a:solidFill>
                  <a:srgbClr val="000000"/>
                </a:solidFill>
              </a:rPr>
              <a:t>switches off by itself and smells of burning plastic</a:t>
            </a:r>
            <a:r>
              <a:rPr lang="en" sz="1200">
                <a:solidFill>
                  <a:srgbClr val="000000"/>
                </a:solidFill>
              </a:rPr>
              <a:t>. He takes it back to the shop </a:t>
            </a:r>
            <a:r>
              <a:rPr b="1" lang="en" sz="1200">
                <a:solidFill>
                  <a:srgbClr val="000000"/>
                </a:solidFill>
              </a:rPr>
              <a:t>two days later</a:t>
            </a:r>
            <a:r>
              <a:rPr lang="en" sz="1200">
                <a:solidFill>
                  <a:srgbClr val="000000"/>
                </a:solidFill>
              </a:rPr>
              <a:t>, but the shop assistant says, “You’ve opened the box, so we can’t refund you.”</a:t>
            </a:r>
            <a:endParaRPr sz="1200">
              <a:solidFill>
                <a:srgbClr val="000000"/>
              </a:solidFill>
            </a:endParaRPr>
          </a:p>
          <a:p>
            <a:pPr indent="0" lvl="0" marL="0" rtl="0" algn="l">
              <a:lnSpc>
                <a:spcPct val="115000"/>
              </a:lnSpc>
              <a:spcBef>
                <a:spcPts val="1200"/>
              </a:spcBef>
              <a:spcAft>
                <a:spcPts val="0"/>
              </a:spcAft>
              <a:buSzPts val="1400"/>
              <a:buNone/>
            </a:pPr>
            <a:r>
              <a:rPr lang="en" sz="1200">
                <a:solidFill>
                  <a:srgbClr val="000000"/>
                </a:solidFill>
              </a:rPr>
              <a:t>Advise Amir using the Consumer Rights Act. 3marks </a:t>
            </a:r>
            <a:endParaRPr sz="1200">
              <a:solidFill>
                <a:srgbClr val="000000"/>
              </a:solidFill>
            </a:endParaRPr>
          </a:p>
          <a:p>
            <a:pPr indent="-304800" lvl="0" marL="457200" rtl="0" algn="l">
              <a:lnSpc>
                <a:spcPct val="115000"/>
              </a:lnSpc>
              <a:spcBef>
                <a:spcPts val="1200"/>
              </a:spcBef>
              <a:spcAft>
                <a:spcPts val="0"/>
              </a:spcAft>
              <a:buClr>
                <a:srgbClr val="000000"/>
              </a:buClr>
              <a:buSzPts val="1200"/>
              <a:buAutoNum type="arabicPeriod"/>
            </a:pPr>
            <a:r>
              <a:rPr lang="en" sz="1200">
                <a:solidFill>
                  <a:srgbClr val="000000"/>
                </a:solidFill>
              </a:rPr>
              <a:t>Liam pays a local garage to </a:t>
            </a:r>
            <a:r>
              <a:rPr b="1" lang="en" sz="1200">
                <a:solidFill>
                  <a:srgbClr val="000000"/>
                </a:solidFill>
              </a:rPr>
              <a:t>service his car</a:t>
            </a:r>
            <a:r>
              <a:rPr lang="en" sz="1200">
                <a:solidFill>
                  <a:srgbClr val="000000"/>
                </a:solidFill>
              </a:rPr>
              <a:t> before a long journey. The garage says the brakes have been checked. Two days later, the brakes make loud noises and feel unsafe. Another mechanic says the brakes were </a:t>
            </a:r>
            <a:r>
              <a:rPr b="1" lang="en" sz="1200">
                <a:solidFill>
                  <a:srgbClr val="000000"/>
                </a:solidFill>
              </a:rPr>
              <a:t>not properly inspected</a:t>
            </a:r>
            <a:r>
              <a:rPr lang="en" sz="1200">
                <a:solidFill>
                  <a:srgbClr val="000000"/>
                </a:solidFill>
              </a:rPr>
              <a:t>.</a:t>
            </a:r>
            <a:endParaRPr b="1" sz="1200">
              <a:solidFill>
                <a:srgbClr val="000000"/>
              </a:solidFill>
            </a:endParaRPr>
          </a:p>
          <a:p>
            <a:pPr indent="0" lvl="0" marL="0" rtl="0" algn="l">
              <a:lnSpc>
                <a:spcPct val="115000"/>
              </a:lnSpc>
              <a:spcBef>
                <a:spcPts val="1200"/>
              </a:spcBef>
              <a:spcAft>
                <a:spcPts val="0"/>
              </a:spcAft>
              <a:buSzPts val="1400"/>
              <a:buNone/>
            </a:pPr>
            <a:r>
              <a:rPr lang="en" sz="1200">
                <a:solidFill>
                  <a:srgbClr val="000000"/>
                </a:solidFill>
              </a:rPr>
              <a:t>Advise Liam using the Consumer Rights Act. 3marks </a:t>
            </a:r>
            <a:endParaRPr sz="1200">
              <a:solidFill>
                <a:srgbClr val="000000"/>
              </a:solidFill>
            </a:endParaRPr>
          </a:p>
          <a:p>
            <a:pPr indent="0" lvl="0" marL="457200" rtl="0" algn="l">
              <a:lnSpc>
                <a:spcPct val="115000"/>
              </a:lnSpc>
              <a:spcBef>
                <a:spcPts val="1200"/>
              </a:spcBef>
              <a:spcAft>
                <a:spcPts val="0"/>
              </a:spcAft>
              <a:buSzPts val="1400"/>
              <a:buNone/>
            </a:pPr>
            <a:r>
              <a:t/>
            </a:r>
            <a:endParaRPr sz="1200">
              <a:solidFill>
                <a:srgbClr val="000000"/>
              </a:solidFill>
            </a:endParaRPr>
          </a:p>
          <a:p>
            <a:pPr indent="0" lvl="0" marL="0" rtl="0" algn="l">
              <a:lnSpc>
                <a:spcPct val="90000"/>
              </a:lnSpc>
              <a:spcBef>
                <a:spcPts val="1200"/>
              </a:spcBef>
              <a:spcAft>
                <a:spcPts val="0"/>
              </a:spcAft>
              <a:buSzPts val="1400"/>
              <a:buNone/>
            </a:pPr>
            <a:r>
              <a:t/>
            </a:r>
            <a:endParaRPr b="1" sz="1200">
              <a:solidFill>
                <a:srgbClr val="000000"/>
              </a:solidFill>
            </a:endParaRPr>
          </a:p>
        </p:txBody>
      </p:sp>
      <p:pic>
        <p:nvPicPr>
          <p:cNvPr id="274" name="Google Shape;274;g3c2d0279d42_0_196"/>
          <p:cNvPicPr preferRelativeResize="0"/>
          <p:nvPr/>
        </p:nvPicPr>
        <p:blipFill rotWithShape="1">
          <a:blip r:embed="rId3">
            <a:alphaModFix/>
          </a:blip>
          <a:srcRect b="0" l="0" r="0" t="0"/>
          <a:stretch/>
        </p:blipFill>
        <p:spPr>
          <a:xfrm>
            <a:off x="7772725" y="198175"/>
            <a:ext cx="742625" cy="79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g360095ba283_0_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Legislation in Business- Why Rules Matter</a:t>
            </a:r>
            <a:endParaRPr/>
          </a:p>
        </p:txBody>
      </p:sp>
      <p:sp>
        <p:nvSpPr>
          <p:cNvPr id="280" name="Google Shape;280;g360095ba283_0_4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None/>
            </a:pPr>
            <a:r>
              <a:rPr lang="en" sz="1600">
                <a:solidFill>
                  <a:srgbClr val="000000"/>
                </a:solidFill>
              </a:rPr>
              <a:t>Today, you'll become business law detectives, again! Let's find out how laws protect workers. </a:t>
            </a:r>
            <a:r>
              <a:rPr lang="en" sz="1600">
                <a:solidFill>
                  <a:srgbClr val="FF0000"/>
                </a:solidFill>
              </a:rPr>
              <a:t>What would you do?</a:t>
            </a:r>
            <a:endParaRPr sz="1600">
              <a:solidFill>
                <a:srgbClr val="FF0000"/>
              </a:solidFill>
            </a:endParaRPr>
          </a:p>
          <a:p>
            <a:pPr indent="0" lvl="0" marL="0" rtl="0" algn="l">
              <a:lnSpc>
                <a:spcPct val="115000"/>
              </a:lnSpc>
              <a:spcBef>
                <a:spcPts val="0"/>
              </a:spcBef>
              <a:spcAft>
                <a:spcPts val="0"/>
              </a:spcAft>
              <a:buSzPts val="1400"/>
              <a:buNone/>
            </a:pPr>
            <a:r>
              <a:t/>
            </a:r>
            <a:endParaRPr b="1" sz="1600">
              <a:solidFill>
                <a:srgbClr val="58595A"/>
              </a:solidFill>
            </a:endParaRPr>
          </a:p>
          <a:p>
            <a:pPr indent="-330200" lvl="0" marL="457200" rtl="0" algn="l">
              <a:lnSpc>
                <a:spcPct val="115000"/>
              </a:lnSpc>
              <a:spcBef>
                <a:spcPts val="0"/>
              </a:spcBef>
              <a:spcAft>
                <a:spcPts val="0"/>
              </a:spcAft>
              <a:buClr>
                <a:srgbClr val="58595A"/>
              </a:buClr>
              <a:buSzPts val="1600"/>
              <a:buFont typeface="Avenir"/>
              <a:buAutoNum type="arabicPeriod"/>
            </a:pPr>
            <a:r>
              <a:rPr b="1" lang="en" sz="1600">
                <a:solidFill>
                  <a:srgbClr val="58595A"/>
                </a:solidFill>
              </a:rPr>
              <a:t>A job advert says “Only men should apply for this construction role.”</a:t>
            </a:r>
            <a:endParaRPr b="1" sz="1600">
              <a:solidFill>
                <a:srgbClr val="58595A"/>
              </a:solidFill>
            </a:endParaRPr>
          </a:p>
          <a:p>
            <a:pPr indent="-330200" lvl="0" marL="457200" rtl="0" algn="l">
              <a:lnSpc>
                <a:spcPct val="115000"/>
              </a:lnSpc>
              <a:spcBef>
                <a:spcPts val="0"/>
              </a:spcBef>
              <a:spcAft>
                <a:spcPts val="0"/>
              </a:spcAft>
              <a:buClr>
                <a:srgbClr val="58595A"/>
              </a:buClr>
              <a:buSzPts val="1600"/>
              <a:buFont typeface="Avenir"/>
              <a:buAutoNum type="arabicPeriod"/>
            </a:pPr>
            <a:r>
              <a:rPr b="1" lang="en" sz="1600">
                <a:solidFill>
                  <a:srgbClr val="58595A"/>
                </a:solidFill>
              </a:rPr>
              <a:t>You are hired at a shop but never given a written contract or payslip.</a:t>
            </a:r>
            <a:endParaRPr b="1" sz="1600">
              <a:solidFill>
                <a:srgbClr val="58595A"/>
              </a:solidFill>
            </a:endParaRPr>
          </a:p>
          <a:p>
            <a:pPr indent="-330200" lvl="0" marL="457200" rtl="0" algn="l">
              <a:lnSpc>
                <a:spcPct val="115000"/>
              </a:lnSpc>
              <a:spcBef>
                <a:spcPts val="0"/>
              </a:spcBef>
              <a:spcAft>
                <a:spcPts val="0"/>
              </a:spcAft>
              <a:buClr>
                <a:srgbClr val="58595A"/>
              </a:buClr>
              <a:buSzPts val="1600"/>
              <a:buFont typeface="Avenir"/>
              <a:buAutoNum type="arabicPeriod"/>
            </a:pPr>
            <a:r>
              <a:rPr b="1" lang="en" sz="1600">
                <a:solidFill>
                  <a:srgbClr val="58595A"/>
                </a:solidFill>
              </a:rPr>
              <a:t>You are told not to apply for a job because of your religion.</a:t>
            </a:r>
            <a:endParaRPr b="1" sz="1600">
              <a:solidFill>
                <a:srgbClr val="58595A"/>
              </a:solidFill>
            </a:endParaRPr>
          </a:p>
          <a:p>
            <a:pPr indent="-330200" lvl="0" marL="457200" rtl="0" algn="l">
              <a:lnSpc>
                <a:spcPct val="115000"/>
              </a:lnSpc>
              <a:spcBef>
                <a:spcPts val="0"/>
              </a:spcBef>
              <a:spcAft>
                <a:spcPts val="0"/>
              </a:spcAft>
              <a:buClr>
                <a:srgbClr val="58595A"/>
              </a:buClr>
              <a:buSzPts val="1600"/>
              <a:buFont typeface="Avenir"/>
              <a:buAutoNum type="arabicPeriod"/>
            </a:pPr>
            <a:r>
              <a:rPr b="1" lang="en" sz="1600">
                <a:solidFill>
                  <a:srgbClr val="58595A"/>
                </a:solidFill>
              </a:rPr>
              <a:t>Your manager refuses to pay you the minimum wage because you’re “just a student.”</a:t>
            </a:r>
            <a:endParaRPr b="1" sz="1600">
              <a:solidFill>
                <a:srgbClr val="58595A"/>
              </a:solidFill>
            </a:endParaRPr>
          </a:p>
          <a:p>
            <a:pPr indent="-330200" lvl="0" marL="457200" rtl="0" algn="l">
              <a:lnSpc>
                <a:spcPct val="115000"/>
              </a:lnSpc>
              <a:spcBef>
                <a:spcPts val="0"/>
              </a:spcBef>
              <a:spcAft>
                <a:spcPts val="0"/>
              </a:spcAft>
              <a:buClr>
                <a:srgbClr val="58595A"/>
              </a:buClr>
              <a:buSzPts val="1600"/>
              <a:buFont typeface="Avenir"/>
              <a:buAutoNum type="arabicPeriod"/>
            </a:pPr>
            <a:r>
              <a:rPr b="1" lang="en" sz="1600">
                <a:solidFill>
                  <a:srgbClr val="58595A"/>
                </a:solidFill>
              </a:rPr>
              <a:t>Your employer says you’re not allowed sick leave unless you “work extra hours later to make up for it.”</a:t>
            </a:r>
            <a:endParaRPr b="1" sz="1600">
              <a:solidFill>
                <a:srgbClr val="58595A"/>
              </a:solidFill>
            </a:endParaRPr>
          </a:p>
          <a:p>
            <a:pPr indent="0" lvl="0" marL="0" rtl="0" algn="l">
              <a:lnSpc>
                <a:spcPct val="115000"/>
              </a:lnSpc>
              <a:spcBef>
                <a:spcPts val="0"/>
              </a:spcBef>
              <a:spcAft>
                <a:spcPts val="0"/>
              </a:spcAft>
              <a:buSzPts val="1400"/>
              <a:buNone/>
            </a:pPr>
            <a:r>
              <a:t/>
            </a:r>
            <a:endParaRPr sz="1600">
              <a:solidFill>
                <a:srgbClr val="000000"/>
              </a:solidFill>
            </a:endParaRPr>
          </a:p>
          <a:p>
            <a:pPr indent="0" lvl="0" marL="0" rtl="0" algn="l">
              <a:lnSpc>
                <a:spcPct val="90000"/>
              </a:lnSpc>
              <a:spcBef>
                <a:spcPts val="800"/>
              </a:spcBef>
              <a:spcAft>
                <a:spcPts val="0"/>
              </a:spcAft>
              <a:buSzPts val="1400"/>
              <a:buNone/>
            </a:pPr>
            <a:r>
              <a:t/>
            </a:r>
            <a:endParaRPr sz="1600"/>
          </a:p>
        </p:txBody>
      </p:sp>
      <p:sp>
        <p:nvSpPr>
          <p:cNvPr id="281" name="Google Shape;281;g360095ba283_0_42"/>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c2d0279d42_0_334"/>
          <p:cNvSpPr txBox="1"/>
          <p:nvPr>
            <p:ph type="title"/>
          </p:nvPr>
        </p:nvSpPr>
        <p:spPr>
          <a:xfrm>
            <a:off x="462125" y="-11330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Exam Style CASE STUDY</a:t>
            </a:r>
            <a:endParaRPr/>
          </a:p>
        </p:txBody>
      </p:sp>
      <p:sp>
        <p:nvSpPr>
          <p:cNvPr id="287" name="Google Shape;287;g3c2d0279d42_0_334"/>
          <p:cNvSpPr txBox="1"/>
          <p:nvPr>
            <p:ph idx="1" type="body"/>
          </p:nvPr>
        </p:nvSpPr>
        <p:spPr>
          <a:xfrm>
            <a:off x="5997425" y="1170125"/>
            <a:ext cx="3202500" cy="3263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400"/>
              </a:spcBef>
              <a:spcAft>
                <a:spcPts val="0"/>
              </a:spcAft>
              <a:buNone/>
            </a:pPr>
            <a:r>
              <a:rPr b="1" lang="en" sz="1400">
                <a:solidFill>
                  <a:srgbClr val="000000"/>
                </a:solidFill>
              </a:rPr>
              <a:t>Exam questions:</a:t>
            </a:r>
            <a:endParaRPr b="1" sz="1400">
              <a:solidFill>
                <a:srgbClr val="000000"/>
              </a:solidFill>
            </a:endParaRPr>
          </a:p>
          <a:p>
            <a:pPr indent="0" lvl="0" marL="0" rtl="0" algn="l">
              <a:lnSpc>
                <a:spcPct val="115000"/>
              </a:lnSpc>
              <a:spcBef>
                <a:spcPts val="1200"/>
              </a:spcBef>
              <a:spcAft>
                <a:spcPts val="0"/>
              </a:spcAft>
              <a:buNone/>
            </a:pPr>
            <a:r>
              <a:rPr b="1" lang="en" sz="1400">
                <a:solidFill>
                  <a:srgbClr val="000000"/>
                </a:solidFill>
              </a:rPr>
              <a:t>a)</a:t>
            </a:r>
            <a:r>
              <a:rPr lang="en" sz="1400">
                <a:solidFill>
                  <a:srgbClr val="000000"/>
                </a:solidFill>
              </a:rPr>
              <a:t> Identify </a:t>
            </a:r>
            <a:r>
              <a:rPr b="1" lang="en" sz="1400">
                <a:solidFill>
                  <a:srgbClr val="000000"/>
                </a:solidFill>
              </a:rPr>
              <a:t>one consumer right</a:t>
            </a:r>
            <a:r>
              <a:rPr lang="en" sz="1400">
                <a:solidFill>
                  <a:srgbClr val="000000"/>
                </a:solidFill>
              </a:rPr>
              <a:t> that applies to Sofia’s situation. (2 marks)</a:t>
            </a:r>
            <a:endParaRPr sz="1400">
              <a:solidFill>
                <a:srgbClr val="000000"/>
              </a:solidFill>
            </a:endParaRPr>
          </a:p>
          <a:p>
            <a:pPr indent="0" lvl="0" marL="0" rtl="0" algn="l">
              <a:lnSpc>
                <a:spcPct val="115000"/>
              </a:lnSpc>
              <a:spcBef>
                <a:spcPts val="1200"/>
              </a:spcBef>
              <a:spcAft>
                <a:spcPts val="0"/>
              </a:spcAft>
              <a:buNone/>
            </a:pPr>
            <a:r>
              <a:rPr b="1" lang="en" sz="1400">
                <a:solidFill>
                  <a:srgbClr val="000000"/>
                </a:solidFill>
              </a:rPr>
              <a:t>b)</a:t>
            </a:r>
            <a:r>
              <a:rPr lang="en" sz="1400">
                <a:solidFill>
                  <a:srgbClr val="000000"/>
                </a:solidFill>
              </a:rPr>
              <a:t> Explain </a:t>
            </a:r>
            <a:r>
              <a:rPr b="1" lang="en" sz="1400">
                <a:solidFill>
                  <a:srgbClr val="000000"/>
                </a:solidFill>
              </a:rPr>
              <a:t>why ActiveStep’s response may be breaking consumer rights law</a:t>
            </a:r>
            <a:r>
              <a:rPr lang="en" sz="1400">
                <a:solidFill>
                  <a:srgbClr val="000000"/>
                </a:solidFill>
              </a:rPr>
              <a:t>. (3 marks)</a:t>
            </a:r>
            <a:endParaRPr sz="1400">
              <a:solidFill>
                <a:srgbClr val="000000"/>
              </a:solidFill>
            </a:endParaRPr>
          </a:p>
          <a:p>
            <a:pPr indent="0" lvl="0" marL="0" rtl="0" algn="l">
              <a:lnSpc>
                <a:spcPct val="115000"/>
              </a:lnSpc>
              <a:spcBef>
                <a:spcPts val="1200"/>
              </a:spcBef>
              <a:spcAft>
                <a:spcPts val="0"/>
              </a:spcAft>
              <a:buNone/>
            </a:pPr>
            <a:r>
              <a:rPr b="1" lang="en" sz="1400">
                <a:solidFill>
                  <a:srgbClr val="000000"/>
                </a:solidFill>
              </a:rPr>
              <a:t>c)</a:t>
            </a:r>
            <a:r>
              <a:rPr lang="en" sz="1400">
                <a:solidFill>
                  <a:srgbClr val="000000"/>
                </a:solidFill>
              </a:rPr>
              <a:t> Analyse </a:t>
            </a:r>
            <a:r>
              <a:rPr b="1" lang="en" sz="1400">
                <a:solidFill>
                  <a:srgbClr val="000000"/>
                </a:solidFill>
              </a:rPr>
              <a:t>the possible impact on ActiveStep</a:t>
            </a:r>
            <a:r>
              <a:rPr lang="en" sz="1400">
                <a:solidFill>
                  <a:srgbClr val="000000"/>
                </a:solidFill>
              </a:rPr>
              <a:t> if it continues to refuse refunds for faulty products. (6 marks)</a:t>
            </a:r>
            <a:endParaRPr sz="1400">
              <a:solidFill>
                <a:srgbClr val="000000"/>
              </a:solidFill>
            </a:endParaRPr>
          </a:p>
          <a:p>
            <a:pPr indent="0" lvl="0" marL="0" rtl="0" algn="l">
              <a:lnSpc>
                <a:spcPct val="90000"/>
              </a:lnSpc>
              <a:spcBef>
                <a:spcPts val="1200"/>
              </a:spcBef>
              <a:spcAft>
                <a:spcPts val="0"/>
              </a:spcAft>
              <a:buSzPts val="1400"/>
              <a:buNone/>
            </a:pPr>
            <a:r>
              <a:t/>
            </a:r>
            <a:endParaRPr sz="1400">
              <a:solidFill>
                <a:srgbClr val="000000"/>
              </a:solidFill>
            </a:endParaRPr>
          </a:p>
        </p:txBody>
      </p:sp>
      <p:sp>
        <p:nvSpPr>
          <p:cNvPr id="288" name="Google Shape;288;g3c2d0279d42_0_334"/>
          <p:cNvSpPr txBox="1"/>
          <p:nvPr/>
        </p:nvSpPr>
        <p:spPr>
          <a:xfrm>
            <a:off x="165925" y="66375"/>
            <a:ext cx="3000000" cy="354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289" name="Google Shape;289;g3c2d0279d42_0_334"/>
          <p:cNvPicPr preferRelativeResize="0"/>
          <p:nvPr/>
        </p:nvPicPr>
        <p:blipFill>
          <a:blip r:embed="rId3">
            <a:alphaModFix/>
          </a:blip>
          <a:stretch>
            <a:fillRect/>
          </a:stretch>
        </p:blipFill>
        <p:spPr>
          <a:xfrm>
            <a:off x="462125" y="1012802"/>
            <a:ext cx="5479999" cy="3420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c2d0279d42_0_34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Sample Answers for question 3</a:t>
            </a:r>
            <a:endParaRPr/>
          </a:p>
        </p:txBody>
      </p:sp>
      <p:sp>
        <p:nvSpPr>
          <p:cNvPr id="295" name="Google Shape;295;g3c2d0279d42_0_34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23850" lvl="0" marL="457200" rtl="0" algn="l">
              <a:spcBef>
                <a:spcPts val="800"/>
              </a:spcBef>
              <a:spcAft>
                <a:spcPts val="0"/>
              </a:spcAft>
              <a:buClr>
                <a:srgbClr val="000000"/>
              </a:buClr>
              <a:buSzPts val="1500"/>
              <a:buFont typeface="Arial"/>
              <a:buAutoNum type="arabicPeriod"/>
            </a:pPr>
            <a:r>
              <a:rPr lang="en" sz="1500">
                <a:solidFill>
                  <a:srgbClr val="000000"/>
                </a:solidFill>
              </a:rPr>
              <a:t>If ActiveStep continues to refuse refunds for faulty products, this could have a negative impact on its </a:t>
            </a:r>
            <a:r>
              <a:rPr b="1" lang="en" sz="1500">
                <a:solidFill>
                  <a:srgbClr val="000000"/>
                </a:solidFill>
              </a:rPr>
              <a:t>reputation</a:t>
            </a:r>
            <a:r>
              <a:rPr lang="en" sz="1500">
                <a:solidFill>
                  <a:srgbClr val="000000"/>
                </a:solidFill>
              </a:rPr>
              <a:t> and </a:t>
            </a:r>
            <a:r>
              <a:rPr b="1" lang="en" sz="1500">
                <a:solidFill>
                  <a:srgbClr val="000000"/>
                </a:solidFill>
              </a:rPr>
              <a:t>sales</a:t>
            </a:r>
            <a:r>
              <a:rPr lang="en" sz="1500">
                <a:solidFill>
                  <a:srgbClr val="000000"/>
                </a:solidFill>
              </a:rPr>
              <a:t>. Customers like Sofia may feel treated unfairly, especially as the trainers were faulty after only two uses. This could lead to more </a:t>
            </a:r>
            <a:r>
              <a:rPr b="1" lang="en" sz="1500">
                <a:solidFill>
                  <a:srgbClr val="000000"/>
                </a:solidFill>
              </a:rPr>
              <a:t>negative online reviews</a:t>
            </a:r>
            <a:r>
              <a:rPr lang="en" sz="1500">
                <a:solidFill>
                  <a:srgbClr val="000000"/>
                </a:solidFill>
              </a:rPr>
              <a:t>, which is particularly damaging because ActiveStep relies on repeat customers.</a:t>
            </a:r>
            <a:endParaRPr sz="1500">
              <a:solidFill>
                <a:srgbClr val="000000"/>
              </a:solidFill>
            </a:endParaRPr>
          </a:p>
          <a:p>
            <a:pPr indent="0" lvl="0" marL="0" rtl="0" algn="l">
              <a:spcBef>
                <a:spcPts val="800"/>
              </a:spcBef>
              <a:spcAft>
                <a:spcPts val="0"/>
              </a:spcAft>
              <a:buNone/>
            </a:pPr>
            <a:r>
              <a:t/>
            </a:r>
            <a:endParaRPr sz="1500">
              <a:solidFill>
                <a:srgbClr val="000000"/>
              </a:solidFill>
            </a:endParaRPr>
          </a:p>
          <a:p>
            <a:pPr indent="-323850" lvl="0" marL="457200" rtl="0" algn="l">
              <a:spcBef>
                <a:spcPts val="800"/>
              </a:spcBef>
              <a:spcAft>
                <a:spcPts val="0"/>
              </a:spcAft>
              <a:buClr>
                <a:srgbClr val="000000"/>
              </a:buClr>
              <a:buSzPts val="1500"/>
              <a:buFont typeface="Avenir"/>
              <a:buAutoNum type="arabicPeriod"/>
            </a:pPr>
            <a:r>
              <a:rPr lang="en" sz="1500">
                <a:solidFill>
                  <a:srgbClr val="000000"/>
                </a:solidFill>
              </a:rPr>
              <a:t>ActiveStep refusing refunds is bad because customers will not be happy. The business could lose customers and make less money. This is unfair to Sofia and breaks the law. The shop should give refunds so people are satisfied.</a:t>
            </a:r>
            <a:endParaRPr sz="1500">
              <a:solidFill>
                <a:srgbClr val="000000"/>
              </a:solidFill>
            </a:endParaRPr>
          </a:p>
        </p:txBody>
      </p:sp>
      <p:sp>
        <p:nvSpPr>
          <p:cNvPr id="296" name="Google Shape;296;g3c2d0279d42_0_343"/>
          <p:cNvSpPr txBox="1"/>
          <p:nvPr/>
        </p:nvSpPr>
        <p:spPr>
          <a:xfrm>
            <a:off x="1672450" y="3787375"/>
            <a:ext cx="48780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Avenir"/>
                <a:ea typeface="Avenir"/>
                <a:cs typeface="Avenir"/>
                <a:sym typeface="Avenir"/>
              </a:rPr>
              <a:t>Criticise both answers list atleast 5 things that went well/wrong for each of them </a:t>
            </a:r>
            <a:endParaRPr>
              <a:solidFill>
                <a:srgbClr val="FF0000"/>
              </a:solidFill>
              <a:latin typeface="Avenir"/>
              <a:ea typeface="Avenir"/>
              <a:cs typeface="Avenir"/>
              <a:sym typeface="Avenir"/>
            </a:endParaRPr>
          </a:p>
        </p:txBody>
      </p:sp>
      <p:pic>
        <p:nvPicPr>
          <p:cNvPr id="297" name="Google Shape;297;g3c2d0279d42_0_343"/>
          <p:cNvPicPr preferRelativeResize="0"/>
          <p:nvPr/>
        </p:nvPicPr>
        <p:blipFill>
          <a:blip r:embed="rId3">
            <a:alphaModFix/>
          </a:blip>
          <a:stretch>
            <a:fillRect/>
          </a:stretch>
        </p:blipFill>
        <p:spPr>
          <a:xfrm>
            <a:off x="7887571" y="388131"/>
            <a:ext cx="792275" cy="7656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c2d0279d42_0_35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Sample Answers for question 3</a:t>
            </a:r>
            <a:endParaRPr/>
          </a:p>
        </p:txBody>
      </p:sp>
      <p:sp>
        <p:nvSpPr>
          <p:cNvPr id="303" name="Google Shape;303;g3c2d0279d42_0_351"/>
          <p:cNvSpPr txBox="1"/>
          <p:nvPr>
            <p:ph idx="1" type="body"/>
          </p:nvPr>
        </p:nvSpPr>
        <p:spPr>
          <a:xfrm>
            <a:off x="628650" y="1132369"/>
            <a:ext cx="7886700" cy="32634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b="1" lang="en" sz="1500" u="sng">
                <a:solidFill>
                  <a:srgbClr val="000000"/>
                </a:solidFill>
              </a:rPr>
              <a:t>Answer 1</a:t>
            </a:r>
            <a:endParaRPr b="1" sz="1500" u="sng">
              <a:solidFill>
                <a:srgbClr val="000000"/>
              </a:solidFill>
            </a:endParaRPr>
          </a:p>
          <a:p>
            <a:pPr indent="0" lvl="0" marL="457200" rtl="0" algn="l">
              <a:spcBef>
                <a:spcPts val="800"/>
              </a:spcBef>
              <a:spcAft>
                <a:spcPts val="0"/>
              </a:spcAft>
              <a:buNone/>
            </a:pPr>
            <a:r>
              <a:rPr lang="en" sz="1500">
                <a:solidFill>
                  <a:srgbClr val="000000"/>
                </a:solidFill>
              </a:rPr>
              <a:t>✔ Uses the case study</a:t>
            </a:r>
            <a:endParaRPr sz="1500">
              <a:solidFill>
                <a:srgbClr val="000000"/>
              </a:solidFill>
            </a:endParaRPr>
          </a:p>
          <a:p>
            <a:pPr indent="0" lvl="0" marL="457200" rtl="0" algn="l">
              <a:spcBef>
                <a:spcPts val="800"/>
              </a:spcBef>
              <a:spcAft>
                <a:spcPts val="0"/>
              </a:spcAft>
              <a:buNone/>
            </a:pPr>
            <a:r>
              <a:rPr lang="en" sz="1500">
                <a:solidFill>
                  <a:srgbClr val="000000"/>
                </a:solidFill>
              </a:rPr>
              <a:t>✔ Chains cause </a:t>
            </a:r>
            <a:r>
              <a:rPr lang="en" sz="1500">
                <a:solidFill>
                  <a:srgbClr val="000000"/>
                </a:solidFill>
                <a:highlight>
                  <a:srgbClr val="00FFFF"/>
                </a:highlight>
              </a:rPr>
              <a:t>→ </a:t>
            </a:r>
            <a:r>
              <a:rPr lang="en" sz="1500">
                <a:solidFill>
                  <a:srgbClr val="000000"/>
                </a:solidFill>
              </a:rPr>
              <a:t>effect </a:t>
            </a:r>
            <a:r>
              <a:rPr lang="en" sz="1500">
                <a:solidFill>
                  <a:srgbClr val="000000"/>
                </a:solidFill>
                <a:highlight>
                  <a:schemeClr val="lt2"/>
                </a:highlight>
              </a:rPr>
              <a:t>→ </a:t>
            </a:r>
            <a:r>
              <a:rPr lang="en" sz="1500">
                <a:solidFill>
                  <a:srgbClr val="000000"/>
                </a:solidFill>
              </a:rPr>
              <a:t>impact</a:t>
            </a:r>
            <a:endParaRPr sz="1500">
              <a:solidFill>
                <a:srgbClr val="000000"/>
              </a:solidFill>
            </a:endParaRPr>
          </a:p>
          <a:p>
            <a:pPr indent="0" lvl="0" marL="457200" rtl="0" algn="l">
              <a:spcBef>
                <a:spcPts val="800"/>
              </a:spcBef>
              <a:spcAft>
                <a:spcPts val="0"/>
              </a:spcAft>
              <a:buNone/>
            </a:pPr>
            <a:r>
              <a:rPr lang="en" sz="1500">
                <a:solidFill>
                  <a:srgbClr val="000000"/>
                </a:solidFill>
              </a:rPr>
              <a:t>✔ Focuses on the business, not the consumer</a:t>
            </a:r>
            <a:endParaRPr sz="1500">
              <a:solidFill>
                <a:srgbClr val="000000"/>
              </a:solidFill>
            </a:endParaRPr>
          </a:p>
          <a:p>
            <a:pPr indent="0" lvl="0" marL="457200" rtl="0" algn="l">
              <a:spcBef>
                <a:spcPts val="800"/>
              </a:spcBef>
              <a:spcAft>
                <a:spcPts val="0"/>
              </a:spcAft>
              <a:buNone/>
            </a:pPr>
            <a:r>
              <a:rPr lang="en" sz="1500">
                <a:solidFill>
                  <a:srgbClr val="000000"/>
                </a:solidFill>
              </a:rPr>
              <a:t>✔ Analytical language (“as a result”, “this could lead to”)</a:t>
            </a:r>
            <a:endParaRPr sz="1500">
              <a:solidFill>
                <a:srgbClr val="000000"/>
              </a:solidFill>
            </a:endParaRPr>
          </a:p>
          <a:p>
            <a:pPr indent="0" lvl="0" marL="457200" rtl="0" algn="l">
              <a:spcBef>
                <a:spcPts val="800"/>
              </a:spcBef>
              <a:spcAft>
                <a:spcPts val="0"/>
              </a:spcAft>
              <a:buNone/>
            </a:pPr>
            <a:r>
              <a:t/>
            </a:r>
            <a:endParaRPr sz="1500">
              <a:solidFill>
                <a:srgbClr val="000000"/>
              </a:solidFill>
            </a:endParaRPr>
          </a:p>
          <a:p>
            <a:pPr indent="0" lvl="0" marL="0" rtl="0" algn="l">
              <a:spcBef>
                <a:spcPts val="800"/>
              </a:spcBef>
              <a:spcAft>
                <a:spcPts val="0"/>
              </a:spcAft>
              <a:buNone/>
            </a:pPr>
            <a:r>
              <a:rPr b="1" lang="en" sz="1500" u="sng">
                <a:solidFill>
                  <a:srgbClr val="000000"/>
                </a:solidFill>
              </a:rPr>
              <a:t>Answer 2</a:t>
            </a:r>
            <a:endParaRPr b="1" sz="1500" u="sng">
              <a:solidFill>
                <a:srgbClr val="000000"/>
              </a:solidFill>
            </a:endParaRPr>
          </a:p>
          <a:p>
            <a:pPr indent="0" lvl="0" marL="0" rtl="0" algn="l">
              <a:spcBef>
                <a:spcPts val="800"/>
              </a:spcBef>
              <a:spcAft>
                <a:spcPts val="0"/>
              </a:spcAft>
              <a:buNone/>
            </a:pPr>
            <a:r>
              <a:rPr lang="en" sz="1500">
                <a:solidFill>
                  <a:srgbClr val="000000"/>
                </a:solidFill>
              </a:rPr>
              <a:t>✘ Very generic</a:t>
            </a:r>
            <a:endParaRPr sz="1500">
              <a:solidFill>
                <a:srgbClr val="000000"/>
              </a:solidFill>
            </a:endParaRPr>
          </a:p>
          <a:p>
            <a:pPr indent="0" lvl="0" marL="0" rtl="0" algn="l">
              <a:spcBef>
                <a:spcPts val="800"/>
              </a:spcBef>
              <a:spcAft>
                <a:spcPts val="0"/>
              </a:spcAft>
              <a:buNone/>
            </a:pPr>
            <a:r>
              <a:rPr lang="en" sz="1500">
                <a:solidFill>
                  <a:srgbClr val="000000"/>
                </a:solidFill>
              </a:rPr>
              <a:t>✘ Limited reference to the case study</a:t>
            </a:r>
            <a:endParaRPr sz="1500">
              <a:solidFill>
                <a:srgbClr val="000000"/>
              </a:solidFill>
            </a:endParaRPr>
          </a:p>
          <a:p>
            <a:pPr indent="0" lvl="0" marL="0" rtl="0" algn="l">
              <a:spcBef>
                <a:spcPts val="800"/>
              </a:spcBef>
              <a:spcAft>
                <a:spcPts val="0"/>
              </a:spcAft>
              <a:buNone/>
            </a:pPr>
            <a:r>
              <a:rPr lang="en" sz="1500">
                <a:solidFill>
                  <a:srgbClr val="000000"/>
                </a:solidFill>
              </a:rPr>
              <a:t>✘ No clear cause-and-effect</a:t>
            </a:r>
            <a:endParaRPr sz="1500">
              <a:solidFill>
                <a:srgbClr val="000000"/>
              </a:solidFill>
            </a:endParaRPr>
          </a:p>
          <a:p>
            <a:pPr indent="0" lvl="0" marL="0" rtl="0" algn="l">
              <a:spcBef>
                <a:spcPts val="800"/>
              </a:spcBef>
              <a:spcAft>
                <a:spcPts val="0"/>
              </a:spcAft>
              <a:buNone/>
            </a:pPr>
            <a:r>
              <a:rPr lang="en" sz="1500">
                <a:solidFill>
                  <a:srgbClr val="000000"/>
                </a:solidFill>
              </a:rPr>
              <a:t>✘ Mostly descriptive and opinion-based</a:t>
            </a:r>
            <a:endParaRPr sz="1500">
              <a:solidFill>
                <a:srgbClr val="000000"/>
              </a:solidFill>
            </a:endParaRPr>
          </a:p>
        </p:txBody>
      </p:sp>
      <p:sp>
        <p:nvSpPr>
          <p:cNvPr id="304" name="Google Shape;304;g3c2d0279d42_0_351"/>
          <p:cNvSpPr txBox="1"/>
          <p:nvPr/>
        </p:nvSpPr>
        <p:spPr>
          <a:xfrm>
            <a:off x="1672450" y="3787375"/>
            <a:ext cx="48780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0000"/>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8" name="Shape 308"/>
        <p:cNvGrpSpPr/>
        <p:nvPr/>
      </p:nvGrpSpPr>
      <p:grpSpPr>
        <a:xfrm>
          <a:off x="0" y="0"/>
          <a:ext cx="0" cy="0"/>
          <a:chOff x="0" y="0"/>
          <a:chExt cx="0" cy="0"/>
        </a:xfrm>
      </p:grpSpPr>
      <p:sp>
        <p:nvSpPr>
          <p:cNvPr id="309" name="Google Shape;309;g3c2d0279d42_0_367"/>
          <p:cNvSpPr txBox="1"/>
          <p:nvPr>
            <p:ph type="title"/>
          </p:nvPr>
        </p:nvSpPr>
        <p:spPr>
          <a:xfrm>
            <a:off x="628650" y="97132"/>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Activity</a:t>
            </a:r>
            <a:endParaRPr/>
          </a:p>
        </p:txBody>
      </p:sp>
      <p:sp>
        <p:nvSpPr>
          <p:cNvPr id="310" name="Google Shape;310;g3c2d0279d42_0_367"/>
          <p:cNvSpPr txBox="1"/>
          <p:nvPr>
            <p:ph idx="1" type="body"/>
          </p:nvPr>
        </p:nvSpPr>
        <p:spPr>
          <a:xfrm>
            <a:off x="904400" y="108146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b="1" lang="en" sz="1200">
                <a:solidFill>
                  <a:srgbClr val="000000"/>
                </a:solidFill>
              </a:rPr>
              <a:t>You’ve been hired by Trading Standards UK to design an eye-catching poster that teaches people their consumer rights.</a:t>
            </a:r>
            <a:endParaRPr b="1" sz="1200">
              <a:solidFill>
                <a:srgbClr val="000000"/>
              </a:solidFill>
            </a:endParaRPr>
          </a:p>
          <a:p>
            <a:pPr indent="0" lvl="0" marL="0" rtl="0" algn="l">
              <a:lnSpc>
                <a:spcPct val="90000"/>
              </a:lnSpc>
              <a:spcBef>
                <a:spcPts val="800"/>
              </a:spcBef>
              <a:spcAft>
                <a:spcPts val="0"/>
              </a:spcAft>
              <a:buSzPts val="1400"/>
              <a:buNone/>
            </a:pPr>
            <a:r>
              <a:rPr lang="en" sz="1200">
                <a:solidFill>
                  <a:srgbClr val="000000"/>
                </a:solidFill>
              </a:rPr>
              <a:t>You must also prepare a </a:t>
            </a:r>
            <a:r>
              <a:rPr b="1" lang="en" sz="1200">
                <a:solidFill>
                  <a:srgbClr val="000000"/>
                </a:solidFill>
              </a:rPr>
              <a:t>60-second pitch</a:t>
            </a:r>
            <a:r>
              <a:rPr lang="en" sz="1200">
                <a:solidFill>
                  <a:srgbClr val="000000"/>
                </a:solidFill>
              </a:rPr>
              <a:t> to explain your poster to the class.</a:t>
            </a:r>
            <a:endParaRPr sz="1200">
              <a:solidFill>
                <a:srgbClr val="000000"/>
              </a:solidFill>
            </a:endParaRPr>
          </a:p>
          <a:p>
            <a:pPr indent="0" lvl="0" marL="0" rtl="0" algn="l">
              <a:lnSpc>
                <a:spcPct val="90000"/>
              </a:lnSpc>
              <a:spcBef>
                <a:spcPts val="800"/>
              </a:spcBef>
              <a:spcAft>
                <a:spcPts val="0"/>
              </a:spcAft>
              <a:buSzPts val="1400"/>
              <a:buNone/>
            </a:pPr>
            <a:r>
              <a:t/>
            </a:r>
            <a:endParaRPr sz="1200">
              <a:solidFill>
                <a:srgbClr val="000000"/>
              </a:solidFill>
            </a:endParaRPr>
          </a:p>
          <a:p>
            <a:pPr indent="0" lvl="0" marL="0" rtl="0" algn="l">
              <a:lnSpc>
                <a:spcPct val="115000"/>
              </a:lnSpc>
              <a:spcBef>
                <a:spcPts val="1400"/>
              </a:spcBef>
              <a:spcAft>
                <a:spcPts val="0"/>
              </a:spcAft>
              <a:buSzPts val="1400"/>
              <a:buNone/>
            </a:pPr>
            <a:r>
              <a:rPr b="1" lang="en" sz="1200">
                <a:solidFill>
                  <a:srgbClr val="000000"/>
                </a:solidFill>
              </a:rPr>
              <a:t>Poster Must Include:</a:t>
            </a:r>
            <a:endParaRPr b="1"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en" sz="1200">
                <a:solidFill>
                  <a:srgbClr val="000000"/>
                </a:solidFill>
              </a:rPr>
              <a:t>A </a:t>
            </a:r>
            <a:r>
              <a:rPr b="1" lang="en" sz="1200">
                <a:solidFill>
                  <a:srgbClr val="000000"/>
                </a:solidFill>
              </a:rPr>
              <a:t>title</a:t>
            </a:r>
            <a:r>
              <a:rPr lang="en" sz="1200">
                <a:solidFill>
                  <a:srgbClr val="000000"/>
                </a:solidFill>
              </a:rPr>
              <a:t> (e.g., </a:t>
            </a:r>
            <a:r>
              <a:rPr i="1" lang="en" sz="1200">
                <a:solidFill>
                  <a:srgbClr val="000000"/>
                </a:solidFill>
              </a:rPr>
              <a:t>“Don’t Get Ripped Off!”</a:t>
            </a:r>
            <a:r>
              <a:rPr lang="en" sz="1200">
                <a:solidFill>
                  <a:srgbClr val="000000"/>
                </a:solidFill>
              </a:rPr>
              <a:t> or </a:t>
            </a:r>
            <a:r>
              <a:rPr i="1" lang="en" sz="1200">
                <a:solidFill>
                  <a:srgbClr val="000000"/>
                </a:solidFill>
              </a:rPr>
              <a:t>“Your Rights, Your Power”</a:t>
            </a:r>
            <a:r>
              <a:rPr lang="en" sz="1200">
                <a:solidFill>
                  <a:srgbClr val="000000"/>
                </a:solidFill>
              </a:rPr>
              <a:t>)</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At least </a:t>
            </a:r>
            <a:r>
              <a:rPr b="1" lang="en" sz="1200">
                <a:solidFill>
                  <a:srgbClr val="000000"/>
                </a:solidFill>
              </a:rPr>
              <a:t>3 key rights</a:t>
            </a:r>
            <a:r>
              <a:rPr lang="en" sz="1200">
                <a:solidFill>
                  <a:srgbClr val="000000"/>
                </a:solidFill>
              </a:rPr>
              <a:t> from consumer law (e.g. fit for purpose, satisfactory quality, safety)</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rPr>
              <a:t>Visual examples</a:t>
            </a:r>
            <a:r>
              <a:rPr lang="en" sz="1200">
                <a:solidFill>
                  <a:srgbClr val="000000"/>
                </a:solidFill>
              </a:rPr>
              <a:t> (e.g. a faulty product, misleading advert, unsafe charger)</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 </a:t>
            </a:r>
            <a:r>
              <a:rPr b="1" lang="en" sz="1200">
                <a:solidFill>
                  <a:srgbClr val="000000"/>
                </a:solidFill>
              </a:rPr>
              <a:t>clear message</a:t>
            </a:r>
            <a:r>
              <a:rPr lang="en" sz="1200">
                <a:solidFill>
                  <a:srgbClr val="000000"/>
                </a:solidFill>
              </a:rPr>
              <a:t> about what customers should do if things go wrong</a:t>
            </a:r>
            <a:br>
              <a:rPr lang="en" sz="1200">
                <a:solidFill>
                  <a:srgbClr val="000000"/>
                </a:solidFill>
              </a:rPr>
            </a:br>
            <a:endParaRPr sz="1200">
              <a:solidFill>
                <a:srgbClr val="000000"/>
              </a:solidFill>
            </a:endParaRPr>
          </a:p>
          <a:p>
            <a:pPr indent="-304800" lvl="0" marL="457200" rtl="0" algn="l">
              <a:lnSpc>
                <a:spcPct val="115000"/>
              </a:lnSpc>
              <a:spcBef>
                <a:spcPts val="0"/>
              </a:spcBef>
              <a:spcAft>
                <a:spcPts val="0"/>
              </a:spcAft>
              <a:buClr>
                <a:srgbClr val="000000"/>
              </a:buClr>
              <a:buSzPts val="1200"/>
              <a:buFont typeface="Avenir"/>
              <a:buChar char="●"/>
            </a:pPr>
            <a:r>
              <a:rPr lang="en" sz="1200">
                <a:solidFill>
                  <a:srgbClr val="000000"/>
                </a:solidFill>
              </a:rPr>
              <a:t>Bright, bold, clear layout. Make it classroom display-worthy!</a:t>
            </a:r>
            <a:endParaRPr sz="1200">
              <a:solidFill>
                <a:srgbClr val="000000"/>
              </a:solidFill>
            </a:endParaRPr>
          </a:p>
          <a:p>
            <a:pPr indent="0" lvl="0" marL="0" rtl="0" algn="l">
              <a:lnSpc>
                <a:spcPct val="90000"/>
              </a:lnSpc>
              <a:spcBef>
                <a:spcPts val="1200"/>
              </a:spcBef>
              <a:spcAft>
                <a:spcPts val="0"/>
              </a:spcAft>
              <a:buSzPts val="1400"/>
              <a:buNone/>
            </a:pPr>
            <a:r>
              <a:t/>
            </a:r>
            <a:endParaRPr sz="1200">
              <a:solidFill>
                <a:srgbClr val="000000"/>
              </a:solidFill>
            </a:endParaRPr>
          </a:p>
        </p:txBody>
      </p:sp>
      <p:pic>
        <p:nvPicPr>
          <p:cNvPr id="311" name="Google Shape;311;g3c2d0279d42_0_367"/>
          <p:cNvPicPr preferRelativeResize="0"/>
          <p:nvPr/>
        </p:nvPicPr>
        <p:blipFill rotWithShape="1">
          <a:blip r:embed="rId3">
            <a:alphaModFix/>
          </a:blip>
          <a:srcRect b="0" l="0" r="0" t="0"/>
          <a:stretch/>
        </p:blipFill>
        <p:spPr>
          <a:xfrm>
            <a:off x="7772725" y="198175"/>
            <a:ext cx="742625" cy="792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QES 3">
      <a:dk1>
        <a:srgbClr val="B1B2B3"/>
      </a:dk1>
      <a:lt1>
        <a:srgbClr val="FFFFFF"/>
      </a:lt1>
      <a:dk2>
        <a:srgbClr val="71206A"/>
      </a:dk2>
      <a:lt2>
        <a:srgbClr val="00ADC6"/>
      </a:lt2>
      <a:accent1>
        <a:srgbClr val="1E1248"/>
      </a:accent1>
      <a:accent2>
        <a:srgbClr val="CA9500"/>
      </a:accent2>
      <a:accent3>
        <a:srgbClr val="00658C"/>
      </a:accent3>
      <a:accent4>
        <a:srgbClr val="902082"/>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QES 3">
      <a:dk1>
        <a:srgbClr val="B1B2B3"/>
      </a:dk1>
      <a:lt1>
        <a:srgbClr val="FFFFFF"/>
      </a:lt1>
      <a:dk2>
        <a:srgbClr val="71206A"/>
      </a:dk2>
      <a:lt2>
        <a:srgbClr val="00ADC6"/>
      </a:lt2>
      <a:accent1>
        <a:srgbClr val="1E1248"/>
      </a:accent1>
      <a:accent2>
        <a:srgbClr val="CA9500"/>
      </a:accent2>
      <a:accent3>
        <a:srgbClr val="00658C"/>
      </a:accent3>
      <a:accent4>
        <a:srgbClr val="902082"/>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Mrs Weir</dc:creator>
</cp:coreProperties>
</file>